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311" r:id="rId3"/>
    <p:sldId id="286" r:id="rId5"/>
    <p:sldId id="287" r:id="rId6"/>
    <p:sldId id="288" r:id="rId7"/>
    <p:sldId id="308" r:id="rId8"/>
    <p:sldId id="309" r:id="rId9"/>
    <p:sldId id="289" r:id="rId10"/>
    <p:sldId id="310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38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CA1"/>
    <a:srgbClr val="B2B2B2"/>
    <a:srgbClr val="004A82"/>
    <a:srgbClr val="00355C"/>
    <a:srgbClr val="00487E"/>
    <a:srgbClr val="398B83"/>
    <a:srgbClr val="4AB4AA"/>
    <a:srgbClr val="80CBC4"/>
    <a:srgbClr val="002B4C"/>
    <a:srgbClr val="4473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9274" autoAdjust="0"/>
  </p:normalViewPr>
  <p:slideViewPr>
    <p:cSldViewPr snapToGrid="0" showGuides="1">
      <p:cViewPr varScale="1">
        <p:scale>
          <a:sx n="84" d="100"/>
          <a:sy n="84" d="100"/>
        </p:scale>
        <p:origin x="658" y="82"/>
      </p:cViewPr>
      <p:guideLst>
        <p:guide orient="horz" pos="2170"/>
        <p:guide pos="38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CD731-B412-4222-A59C-ABCC6C7E75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C3662A-F5F2-4822-8B7D-52E857005EB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552A8-ECE7-49AA-8726-BE90DBC119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5223313"/>
            <a:ext cx="12192000" cy="1634689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矩形 14"/>
          <p:cNvSpPr/>
          <p:nvPr/>
        </p:nvSpPr>
        <p:spPr>
          <a:xfrm>
            <a:off x="0" y="5053674"/>
            <a:ext cx="12192000" cy="77108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文本框 15"/>
          <p:cNvSpPr txBox="1"/>
          <p:nvPr/>
        </p:nvSpPr>
        <p:spPr>
          <a:xfrm>
            <a:off x="2172092" y="3399118"/>
            <a:ext cx="784781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>
                <a:solidFill>
                  <a:srgbClr val="005C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数模美赛经验分享（</a:t>
            </a:r>
            <a:r>
              <a:rPr lang="zh-CN" altLang="en-US" sz="5400" b="1">
                <a:solidFill>
                  <a:srgbClr val="005C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写作）</a:t>
            </a:r>
            <a:endParaRPr lang="zh-CN" altLang="en-US" sz="5400" b="1" dirty="0">
              <a:solidFill>
                <a:srgbClr val="005C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461895" y="5804535"/>
            <a:ext cx="2630805" cy="378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6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主讲人：李</a:t>
            </a:r>
            <a:r>
              <a:rPr lang="zh-CN" altLang="en-US" sz="186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好奇</a:t>
            </a:r>
            <a:endParaRPr lang="zh-CN" altLang="en-US" sz="186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620000" y="5804535"/>
            <a:ext cx="3200400" cy="378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6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专业：给排水</a:t>
            </a:r>
            <a:r>
              <a:rPr lang="zh-CN" altLang="en-US" sz="186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科学与工程</a:t>
            </a:r>
            <a:endParaRPr lang="zh-CN" altLang="en-US" sz="186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2162" y="400302"/>
            <a:ext cx="2567677" cy="2567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5" grpId="0" bldLvl="0" animBg="1"/>
      <p:bldP spid="16" grpId="0"/>
      <p:bldP spid="20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57352" y="144940"/>
            <a:ext cx="2631440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en-US" sz="3200" b="1" dirty="0"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掌握写作工具</a:t>
            </a:r>
            <a:endParaRPr lang="en-US" sz="3200" b="1" dirty="0"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301365" y="217805"/>
            <a:ext cx="9379585" cy="439420"/>
            <a:chOff x="2584397" y="217491"/>
            <a:chExt cx="10096500" cy="439541"/>
          </a:xfrm>
        </p:grpSpPr>
        <p:sp>
          <p:nvSpPr>
            <p:cNvPr id="4" name="圆角矩形 3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Shape 4"/>
          <p:cNvSpPr/>
          <p:nvPr/>
        </p:nvSpPr>
        <p:spPr>
          <a:xfrm>
            <a:off x="333375" y="1351915"/>
            <a:ext cx="38100" cy="2047875"/>
          </a:xfrm>
          <a:custGeom>
            <a:avLst/>
            <a:gdLst/>
            <a:ahLst/>
            <a:cxnLst/>
            <a:rect l="l" t="t" r="r" b="b"/>
            <a:pathLst>
              <a:path w="38100" h="2047875">
                <a:moveTo>
                  <a:pt x="0" y="0"/>
                </a:moveTo>
                <a:lnTo>
                  <a:pt x="38100" y="0"/>
                </a:lnTo>
                <a:lnTo>
                  <a:pt x="38100" y="2047875"/>
                </a:lnTo>
                <a:lnTo>
                  <a:pt x="0" y="2047875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21" name="Shape 5"/>
          <p:cNvSpPr/>
          <p:nvPr/>
        </p:nvSpPr>
        <p:spPr>
          <a:xfrm>
            <a:off x="636984" y="138049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17859"/>
                </a:moveTo>
                <a:lnTo>
                  <a:pt x="119769" y="17859"/>
                </a:lnTo>
                <a:lnTo>
                  <a:pt x="119769" y="137629"/>
                </a:lnTo>
                <a:lnTo>
                  <a:pt x="0" y="137629"/>
                </a:lnTo>
                <a:lnTo>
                  <a:pt x="0" y="17859"/>
                </a:lnTo>
                <a:close/>
                <a:moveTo>
                  <a:pt x="130262" y="17859"/>
                </a:moveTo>
                <a:lnTo>
                  <a:pt x="250031" y="17859"/>
                </a:lnTo>
                <a:lnTo>
                  <a:pt x="250031" y="137629"/>
                </a:lnTo>
                <a:lnTo>
                  <a:pt x="130262" y="137629"/>
                </a:lnTo>
                <a:lnTo>
                  <a:pt x="130262" y="17859"/>
                </a:lnTo>
                <a:close/>
                <a:moveTo>
                  <a:pt x="0" y="148121"/>
                </a:moveTo>
                <a:lnTo>
                  <a:pt x="119769" y="148121"/>
                </a:lnTo>
                <a:lnTo>
                  <a:pt x="119769" y="267891"/>
                </a:lnTo>
                <a:lnTo>
                  <a:pt x="0" y="267891"/>
                </a:lnTo>
                <a:lnTo>
                  <a:pt x="0" y="148121"/>
                </a:lnTo>
                <a:close/>
                <a:moveTo>
                  <a:pt x="130262" y="148121"/>
                </a:moveTo>
                <a:lnTo>
                  <a:pt x="250031" y="148121"/>
                </a:lnTo>
                <a:lnTo>
                  <a:pt x="250031" y="267891"/>
                </a:lnTo>
                <a:lnTo>
                  <a:pt x="130262" y="267891"/>
                </a:lnTo>
                <a:lnTo>
                  <a:pt x="130262" y="148121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22" name="Text 6"/>
          <p:cNvSpPr/>
          <p:nvPr/>
        </p:nvSpPr>
        <p:spPr>
          <a:xfrm>
            <a:off x="1052513" y="1351915"/>
            <a:ext cx="8572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Word</a:t>
            </a:r>
            <a:endParaRPr lang="en-US" sz="20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23" name="Text 7"/>
          <p:cNvSpPr/>
          <p:nvPr/>
        </p:nvSpPr>
        <p:spPr>
          <a:xfrm>
            <a:off x="581025" y="1847215"/>
            <a:ext cx="53816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4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方正楷体_GBK" panose="03000509000000000000" charset="-122"/>
              </a:rPr>
              <a:t>适合初学者，界面友好，易于上手，但需要安装MathType等插件来编辑复杂公式。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方正楷体_GBK" panose="03000509000000000000" charset="-122"/>
            </a:endParaRPr>
          </a:p>
        </p:txBody>
      </p:sp>
      <p:sp>
        <p:nvSpPr>
          <p:cNvPr id="24" name="Shape 8"/>
          <p:cNvSpPr/>
          <p:nvPr/>
        </p:nvSpPr>
        <p:spPr>
          <a:xfrm>
            <a:off x="600075" y="259492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25" name="Text 9"/>
          <p:cNvSpPr/>
          <p:nvPr/>
        </p:nvSpPr>
        <p:spPr>
          <a:xfrm>
            <a:off x="847725" y="2557145"/>
            <a:ext cx="244729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插入图片与表格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26" name="Shape 10"/>
          <p:cNvSpPr/>
          <p:nvPr/>
        </p:nvSpPr>
        <p:spPr>
          <a:xfrm>
            <a:off x="600075" y="289972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27" name="Text 11"/>
          <p:cNvSpPr/>
          <p:nvPr/>
        </p:nvSpPr>
        <p:spPr>
          <a:xfrm>
            <a:off x="847725" y="2861945"/>
            <a:ext cx="29235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sz="1600" dirty="0"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  <a:sym typeface="+mn-ea"/>
              </a:rPr>
              <a:t>MathType公式编辑</a:t>
            </a:r>
            <a:endParaRPr lang="en-US" sz="1600" dirty="0">
              <a:latin typeface="方正楷体_GBK" panose="03000509000000000000" charset="-122"/>
              <a:ea typeface="方正楷体_GBK" panose="03000509000000000000" charset="-122"/>
              <a:cs typeface="MiSans" pitchFamily="34" charset="-120"/>
              <a:sym typeface="+mn-ea"/>
            </a:endParaRPr>
          </a:p>
        </p:txBody>
      </p:sp>
      <p:sp>
        <p:nvSpPr>
          <p:cNvPr id="28" name="Shape 12"/>
          <p:cNvSpPr/>
          <p:nvPr/>
        </p:nvSpPr>
        <p:spPr>
          <a:xfrm>
            <a:off x="600075" y="320452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29" name="Text 13"/>
          <p:cNvSpPr/>
          <p:nvPr/>
        </p:nvSpPr>
        <p:spPr>
          <a:xfrm>
            <a:off x="847725" y="3166745"/>
            <a:ext cx="306705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sz="1600" dirty="0"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  <a:sym typeface="+mn-ea"/>
              </a:rPr>
              <a:t>自动编号与交叉引用</a:t>
            </a:r>
            <a:endParaRPr lang="en-US" sz="1600" dirty="0">
              <a:latin typeface="方正楷体_GBK" panose="03000509000000000000" charset="-122"/>
              <a:ea typeface="方正楷体_GBK" panose="03000509000000000000" charset="-122"/>
              <a:cs typeface="MiSans" pitchFamily="34" charset="-120"/>
              <a:sym typeface="+mn-ea"/>
            </a:endParaRPr>
          </a:p>
        </p:txBody>
      </p:sp>
      <p:sp>
        <p:nvSpPr>
          <p:cNvPr id="30" name="Shape 14"/>
          <p:cNvSpPr/>
          <p:nvPr/>
        </p:nvSpPr>
        <p:spPr>
          <a:xfrm>
            <a:off x="6200775" y="1351915"/>
            <a:ext cx="38100" cy="2047875"/>
          </a:xfrm>
          <a:custGeom>
            <a:avLst/>
            <a:gdLst/>
            <a:ahLst/>
            <a:cxnLst/>
            <a:rect l="l" t="t" r="r" b="b"/>
            <a:pathLst>
              <a:path w="38100" h="2047875">
                <a:moveTo>
                  <a:pt x="0" y="0"/>
                </a:moveTo>
                <a:lnTo>
                  <a:pt x="38100" y="0"/>
                </a:lnTo>
                <a:lnTo>
                  <a:pt x="38100" y="2047875"/>
                </a:lnTo>
                <a:lnTo>
                  <a:pt x="0" y="2047875"/>
                </a:lnTo>
                <a:lnTo>
                  <a:pt x="0" y="0"/>
                </a:lnTo>
                <a:close/>
              </a:path>
            </a:pathLst>
          </a:custGeom>
          <a:solidFill>
            <a:srgbClr val="E49B5D"/>
          </a:solidFill>
        </p:spPr>
      </p:sp>
      <p:sp>
        <p:nvSpPr>
          <p:cNvPr id="31" name="Shape 15"/>
          <p:cNvSpPr/>
          <p:nvPr/>
        </p:nvSpPr>
        <p:spPr>
          <a:xfrm>
            <a:off x="6468666" y="138049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01364" y="670"/>
                </a:moveTo>
                <a:cubicBezTo>
                  <a:pt x="191877" y="-2065"/>
                  <a:pt x="181998" y="3460"/>
                  <a:pt x="179263" y="12948"/>
                </a:cubicBezTo>
                <a:lnTo>
                  <a:pt x="107826" y="262979"/>
                </a:lnTo>
                <a:cubicBezTo>
                  <a:pt x="105091" y="272467"/>
                  <a:pt x="110617" y="282346"/>
                  <a:pt x="120104" y="285080"/>
                </a:cubicBezTo>
                <a:cubicBezTo>
                  <a:pt x="129592" y="287815"/>
                  <a:pt x="139471" y="282290"/>
                  <a:pt x="142205" y="272802"/>
                </a:cubicBezTo>
                <a:lnTo>
                  <a:pt x="213643" y="22771"/>
                </a:lnTo>
                <a:cubicBezTo>
                  <a:pt x="216377" y="13283"/>
                  <a:pt x="210852" y="3404"/>
                  <a:pt x="201364" y="670"/>
                </a:cubicBezTo>
                <a:close/>
                <a:moveTo>
                  <a:pt x="237418" y="76628"/>
                </a:moveTo>
                <a:cubicBezTo>
                  <a:pt x="230442" y="83604"/>
                  <a:pt x="230442" y="94934"/>
                  <a:pt x="237418" y="101910"/>
                </a:cubicBezTo>
                <a:lnTo>
                  <a:pt x="278383" y="142875"/>
                </a:lnTo>
                <a:lnTo>
                  <a:pt x="237418" y="183840"/>
                </a:lnTo>
                <a:cubicBezTo>
                  <a:pt x="230442" y="190816"/>
                  <a:pt x="230442" y="202146"/>
                  <a:pt x="237418" y="209122"/>
                </a:cubicBezTo>
                <a:cubicBezTo>
                  <a:pt x="244394" y="216098"/>
                  <a:pt x="255724" y="216098"/>
                  <a:pt x="262700" y="209122"/>
                </a:cubicBezTo>
                <a:lnTo>
                  <a:pt x="316278" y="155544"/>
                </a:lnTo>
                <a:cubicBezTo>
                  <a:pt x="323255" y="148568"/>
                  <a:pt x="323255" y="137238"/>
                  <a:pt x="316278" y="130262"/>
                </a:cubicBezTo>
                <a:lnTo>
                  <a:pt x="262700" y="76684"/>
                </a:lnTo>
                <a:cubicBezTo>
                  <a:pt x="255724" y="69707"/>
                  <a:pt x="244394" y="69707"/>
                  <a:pt x="237418" y="76684"/>
                </a:cubicBezTo>
                <a:close/>
                <a:moveTo>
                  <a:pt x="84106" y="76628"/>
                </a:moveTo>
                <a:cubicBezTo>
                  <a:pt x="77130" y="69652"/>
                  <a:pt x="65801" y="69652"/>
                  <a:pt x="58824" y="76628"/>
                </a:cubicBezTo>
                <a:lnTo>
                  <a:pt x="5246" y="130206"/>
                </a:lnTo>
                <a:cubicBezTo>
                  <a:pt x="-1730" y="137182"/>
                  <a:pt x="-1730" y="148512"/>
                  <a:pt x="5246" y="155488"/>
                </a:cubicBezTo>
                <a:lnTo>
                  <a:pt x="58824" y="209066"/>
                </a:lnTo>
                <a:cubicBezTo>
                  <a:pt x="65801" y="216043"/>
                  <a:pt x="77130" y="216043"/>
                  <a:pt x="84106" y="209066"/>
                </a:cubicBezTo>
                <a:cubicBezTo>
                  <a:pt x="91083" y="202090"/>
                  <a:pt x="91083" y="190760"/>
                  <a:pt x="84106" y="183784"/>
                </a:cubicBezTo>
                <a:lnTo>
                  <a:pt x="43142" y="142875"/>
                </a:lnTo>
                <a:lnTo>
                  <a:pt x="84051" y="101910"/>
                </a:lnTo>
                <a:cubicBezTo>
                  <a:pt x="91027" y="94934"/>
                  <a:pt x="91027" y="83604"/>
                  <a:pt x="84051" y="76628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32" name="Text 16"/>
          <p:cNvSpPr/>
          <p:nvPr/>
        </p:nvSpPr>
        <p:spPr>
          <a:xfrm>
            <a:off x="6919913" y="1351915"/>
            <a:ext cx="23526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Overleaf / LaTeX</a:t>
            </a:r>
            <a:endParaRPr lang="en-US" sz="20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33" name="Text 17"/>
          <p:cNvSpPr/>
          <p:nvPr/>
        </p:nvSpPr>
        <p:spPr>
          <a:xfrm>
            <a:off x="6448425" y="1847215"/>
            <a:ext cx="53816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方正楷体_GBK" panose="03000509000000000000" charset="-122"/>
              </a:rPr>
              <a:t>专业排版，数学公式美观，适合美赛等国际竞赛，但需要一定学习成本。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方正楷体_GBK" panose="03000509000000000000" charset="-122"/>
            </a:endParaRPr>
          </a:p>
        </p:txBody>
      </p:sp>
      <p:sp>
        <p:nvSpPr>
          <p:cNvPr id="34" name="Shape 18"/>
          <p:cNvSpPr/>
          <p:nvPr/>
        </p:nvSpPr>
        <p:spPr>
          <a:xfrm>
            <a:off x="6467475" y="259492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35" name="Text 19"/>
          <p:cNvSpPr/>
          <p:nvPr/>
        </p:nvSpPr>
        <p:spPr>
          <a:xfrm>
            <a:off x="6715125" y="2557145"/>
            <a:ext cx="2800985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sz="1600" dirty="0"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  <a:sym typeface="+mn-ea"/>
              </a:rPr>
              <a:t>精美数学公式</a:t>
            </a:r>
            <a:endParaRPr lang="en-US" sz="1600" dirty="0">
              <a:latin typeface="方正楷体_GBK" panose="03000509000000000000" charset="-122"/>
              <a:ea typeface="方正楷体_GBK" panose="03000509000000000000" charset="-122"/>
              <a:cs typeface="MiSans" pitchFamily="34" charset="-120"/>
              <a:sym typeface="+mn-ea"/>
            </a:endParaRPr>
          </a:p>
        </p:txBody>
      </p:sp>
      <p:sp>
        <p:nvSpPr>
          <p:cNvPr id="36" name="Shape 20"/>
          <p:cNvSpPr/>
          <p:nvPr/>
        </p:nvSpPr>
        <p:spPr>
          <a:xfrm>
            <a:off x="6467475" y="289972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37" name="Text 21"/>
          <p:cNvSpPr/>
          <p:nvPr/>
        </p:nvSpPr>
        <p:spPr>
          <a:xfrm>
            <a:off x="6715125" y="2861945"/>
            <a:ext cx="3818255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sz="1600" dirty="0"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  <a:sym typeface="+mn-ea"/>
              </a:rPr>
              <a:t>专业三线表</a:t>
            </a:r>
            <a:endParaRPr lang="en-US" sz="1600" dirty="0">
              <a:latin typeface="方正楷体_GBK" panose="03000509000000000000" charset="-122"/>
              <a:ea typeface="方正楷体_GBK" panose="03000509000000000000" charset="-122"/>
              <a:cs typeface="MiSans" pitchFamily="34" charset="-120"/>
              <a:sym typeface="+mn-ea"/>
            </a:endParaRPr>
          </a:p>
        </p:txBody>
      </p:sp>
      <p:sp>
        <p:nvSpPr>
          <p:cNvPr id="38" name="Shape 22"/>
          <p:cNvSpPr/>
          <p:nvPr/>
        </p:nvSpPr>
        <p:spPr>
          <a:xfrm>
            <a:off x="6467475" y="320452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39" name="Text 23"/>
          <p:cNvSpPr/>
          <p:nvPr/>
        </p:nvSpPr>
        <p:spPr>
          <a:xfrm>
            <a:off x="6715125" y="3166745"/>
            <a:ext cx="3568065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sz="1600" dirty="0"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  <a:sym typeface="+mn-ea"/>
              </a:rPr>
              <a:t>版本控制与协作</a:t>
            </a:r>
            <a:endParaRPr lang="en-US" sz="1600" dirty="0">
              <a:latin typeface="方正楷体_GBK" panose="03000509000000000000" charset="-122"/>
              <a:ea typeface="方正楷体_GBK" panose="03000509000000000000" charset="-122"/>
              <a:cs typeface="MiSans" pitchFamily="34" charset="-120"/>
              <a:sym typeface="+mn-ea"/>
            </a:endParaRPr>
          </a:p>
        </p:txBody>
      </p:sp>
      <p:sp>
        <p:nvSpPr>
          <p:cNvPr id="51" name="Shape 35"/>
          <p:cNvSpPr/>
          <p:nvPr/>
        </p:nvSpPr>
        <p:spPr>
          <a:xfrm>
            <a:off x="400050" y="4414203"/>
            <a:ext cx="11430000" cy="866775"/>
          </a:xfrm>
          <a:custGeom>
            <a:avLst/>
            <a:gdLst/>
            <a:ahLst/>
            <a:cxnLst/>
            <a:rect l="l" t="t" r="r" b="b"/>
            <a:pathLst>
              <a:path w="11430000" h="866775">
                <a:moveTo>
                  <a:pt x="76198" y="0"/>
                </a:moveTo>
                <a:lnTo>
                  <a:pt x="11353802" y="0"/>
                </a:lnTo>
                <a:cubicBezTo>
                  <a:pt x="11395885" y="0"/>
                  <a:pt x="11430000" y="34115"/>
                  <a:pt x="11430000" y="76198"/>
                </a:cubicBezTo>
                <a:lnTo>
                  <a:pt x="11430000" y="790577"/>
                </a:lnTo>
                <a:cubicBezTo>
                  <a:pt x="11430000" y="832660"/>
                  <a:pt x="11395885" y="866775"/>
                  <a:pt x="11353802" y="866775"/>
                </a:cubicBezTo>
                <a:lnTo>
                  <a:pt x="76198" y="866775"/>
                </a:lnTo>
                <a:cubicBezTo>
                  <a:pt x="34143" y="866775"/>
                  <a:pt x="0" y="832632"/>
                  <a:pt x="0" y="7905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52" name="Shape 36"/>
          <p:cNvSpPr/>
          <p:nvPr/>
        </p:nvSpPr>
        <p:spPr>
          <a:xfrm>
            <a:off x="600075" y="460470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53" name="Text 37"/>
          <p:cNvSpPr/>
          <p:nvPr/>
        </p:nvSpPr>
        <p:spPr>
          <a:xfrm>
            <a:off x="904875" y="4566603"/>
            <a:ext cx="10858500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核心建议：</a:t>
            </a:r>
            <a:r>
              <a:rPr lang="en-US" sz="20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写作手必须熟练掌握至少一种工具，相信</a:t>
            </a:r>
            <a:r>
              <a:rPr lang="zh-CN" altLang="en-US" sz="20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大家在</a:t>
            </a:r>
            <a:r>
              <a:rPr lang="en-US" sz="20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培训课已经</a:t>
            </a:r>
            <a:r>
              <a:rPr lang="zh-CN" altLang="en-US" sz="20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掌握很清楚</a:t>
            </a:r>
            <a:r>
              <a:rPr lang="en-US" sz="20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，</a:t>
            </a:r>
            <a:r>
              <a:rPr lang="zh-CN" altLang="en-US" sz="20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希望大家可以熟练使用</a:t>
            </a:r>
            <a:r>
              <a:rPr lang="en-US" sz="20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，这将直接影响论文质量和提交效率。</a:t>
            </a:r>
            <a:endParaRPr lang="en-US" sz="20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11" name="圆角矩形 10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701167" y="144940"/>
            <a:ext cx="3039745" cy="107505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en-US" sz="3200" b="1" dirty="0"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  <a:sym typeface="+mn-ea"/>
              </a:rPr>
              <a:t>论文复现与阅读</a:t>
            </a:r>
            <a:endParaRPr lang="en-US" sz="32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  <a:p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741420" y="217805"/>
            <a:ext cx="8939530" cy="439420"/>
            <a:chOff x="2584397" y="217491"/>
            <a:chExt cx="10096500" cy="439541"/>
          </a:xfrm>
        </p:grpSpPr>
        <p:sp>
          <p:nvSpPr>
            <p:cNvPr id="10" name="圆角矩形 9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圆角矩形 13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Shape 4"/>
          <p:cNvSpPr/>
          <p:nvPr/>
        </p:nvSpPr>
        <p:spPr>
          <a:xfrm>
            <a:off x="361950" y="111569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67866"/>
                </a:moveTo>
                <a:cubicBezTo>
                  <a:pt x="135985" y="67866"/>
                  <a:pt x="153591" y="50260"/>
                  <a:pt x="153591" y="28575"/>
                </a:cubicBezTo>
                <a:cubicBezTo>
                  <a:pt x="153591" y="6890"/>
                  <a:pt x="135985" y="-10716"/>
                  <a:pt x="114300" y="-10716"/>
                </a:cubicBezTo>
                <a:cubicBezTo>
                  <a:pt x="92615" y="-10716"/>
                  <a:pt x="75009" y="6890"/>
                  <a:pt x="75009" y="28575"/>
                </a:cubicBezTo>
                <a:cubicBezTo>
                  <a:pt x="75009" y="50260"/>
                  <a:pt x="92615" y="67866"/>
                  <a:pt x="114300" y="67866"/>
                </a:cubicBezTo>
                <a:close/>
                <a:moveTo>
                  <a:pt x="114300" y="201231"/>
                </a:moveTo>
                <a:lnTo>
                  <a:pt x="114300" y="134570"/>
                </a:lnTo>
                <a:cubicBezTo>
                  <a:pt x="121578" y="131534"/>
                  <a:pt x="128989" y="128454"/>
                  <a:pt x="136490" y="125328"/>
                </a:cubicBezTo>
                <a:cubicBezTo>
                  <a:pt x="153903" y="118095"/>
                  <a:pt x="172566" y="114345"/>
                  <a:pt x="191452" y="114345"/>
                </a:cubicBezTo>
                <a:lnTo>
                  <a:pt x="200025" y="114345"/>
                </a:lnTo>
                <a:lnTo>
                  <a:pt x="200025" y="185782"/>
                </a:lnTo>
                <a:lnTo>
                  <a:pt x="191452" y="185782"/>
                </a:lnTo>
                <a:cubicBezTo>
                  <a:pt x="165065" y="185782"/>
                  <a:pt x="138901" y="191006"/>
                  <a:pt x="114523" y="201186"/>
                </a:cubicBezTo>
                <a:lnTo>
                  <a:pt x="114300" y="201275"/>
                </a:lnTo>
                <a:close/>
                <a:moveTo>
                  <a:pt x="114300" y="103584"/>
                </a:moveTo>
                <a:lnTo>
                  <a:pt x="103093" y="98896"/>
                </a:lnTo>
                <a:cubicBezTo>
                  <a:pt x="82198" y="90190"/>
                  <a:pt x="59784" y="85725"/>
                  <a:pt x="37148" y="85725"/>
                </a:cubicBezTo>
                <a:lnTo>
                  <a:pt x="21431" y="85725"/>
                </a:lnTo>
                <a:cubicBezTo>
                  <a:pt x="9599" y="85725"/>
                  <a:pt x="0" y="95324"/>
                  <a:pt x="0" y="107156"/>
                </a:cubicBezTo>
                <a:lnTo>
                  <a:pt x="0" y="192881"/>
                </a:lnTo>
                <a:cubicBezTo>
                  <a:pt x="0" y="204713"/>
                  <a:pt x="9599" y="214313"/>
                  <a:pt x="21431" y="214313"/>
                </a:cubicBezTo>
                <a:lnTo>
                  <a:pt x="37148" y="214313"/>
                </a:lnTo>
                <a:cubicBezTo>
                  <a:pt x="59784" y="214313"/>
                  <a:pt x="82198" y="218777"/>
                  <a:pt x="103093" y="227484"/>
                </a:cubicBezTo>
                <a:lnTo>
                  <a:pt x="108808" y="229850"/>
                </a:lnTo>
                <a:cubicBezTo>
                  <a:pt x="112335" y="231324"/>
                  <a:pt x="116265" y="231324"/>
                  <a:pt x="119792" y="229850"/>
                </a:cubicBezTo>
                <a:lnTo>
                  <a:pt x="125507" y="227484"/>
                </a:lnTo>
                <a:cubicBezTo>
                  <a:pt x="146402" y="218777"/>
                  <a:pt x="168816" y="214312"/>
                  <a:pt x="191453" y="214312"/>
                </a:cubicBezTo>
                <a:lnTo>
                  <a:pt x="207169" y="214312"/>
                </a:lnTo>
                <a:cubicBezTo>
                  <a:pt x="219001" y="214312"/>
                  <a:pt x="228600" y="204713"/>
                  <a:pt x="228600" y="192881"/>
                </a:cubicBezTo>
                <a:lnTo>
                  <a:pt x="228600" y="107156"/>
                </a:lnTo>
                <a:cubicBezTo>
                  <a:pt x="228600" y="95324"/>
                  <a:pt x="219001" y="85725"/>
                  <a:pt x="207169" y="85725"/>
                </a:cubicBezTo>
                <a:lnTo>
                  <a:pt x="191453" y="85725"/>
                </a:lnTo>
                <a:cubicBezTo>
                  <a:pt x="168816" y="85725"/>
                  <a:pt x="146402" y="90190"/>
                  <a:pt x="125507" y="98896"/>
                </a:cubicBezTo>
                <a:lnTo>
                  <a:pt x="114300" y="103584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9" name="Text 5"/>
          <p:cNvSpPr/>
          <p:nvPr/>
        </p:nvSpPr>
        <p:spPr>
          <a:xfrm>
            <a:off x="733425" y="1077595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阅读优秀论文</a:t>
            </a:r>
            <a:endParaRPr lang="en-US" sz="18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20" name="Text 6"/>
          <p:cNvSpPr/>
          <p:nvPr/>
        </p:nvSpPr>
        <p:spPr>
          <a:xfrm>
            <a:off x="333375" y="1534795"/>
            <a:ext cx="56483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4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在暑期培训期间，我系统阅读了多篇国赛和美赛的优秀获奖论文，学习他们的写作思路、表达方式和图表设计。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390525" y="228250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E49B5D"/>
          </a:solidFill>
        </p:spPr>
      </p:sp>
      <p:sp>
        <p:nvSpPr>
          <p:cNvPr id="27" name="Text 8"/>
          <p:cNvSpPr/>
          <p:nvPr/>
        </p:nvSpPr>
        <p:spPr>
          <a:xfrm>
            <a:off x="600075" y="2244725"/>
            <a:ext cx="296799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学习如何把一句话写得更好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28" name="Shape 9"/>
          <p:cNvSpPr/>
          <p:nvPr/>
        </p:nvSpPr>
        <p:spPr>
          <a:xfrm>
            <a:off x="390525" y="262540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E49B5D"/>
          </a:solidFill>
        </p:spPr>
      </p:sp>
      <p:sp>
        <p:nvSpPr>
          <p:cNvPr id="29" name="Text 10"/>
          <p:cNvSpPr/>
          <p:nvPr/>
        </p:nvSpPr>
        <p:spPr>
          <a:xfrm>
            <a:off x="600075" y="2587625"/>
            <a:ext cx="3152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分析论文结构与逻辑框架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30" name="Shape 11"/>
          <p:cNvSpPr/>
          <p:nvPr/>
        </p:nvSpPr>
        <p:spPr>
          <a:xfrm>
            <a:off x="390525" y="296830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E49B5D"/>
          </a:solidFill>
        </p:spPr>
      </p:sp>
      <p:sp>
        <p:nvSpPr>
          <p:cNvPr id="31" name="Text 12"/>
          <p:cNvSpPr/>
          <p:nvPr/>
        </p:nvSpPr>
        <p:spPr>
          <a:xfrm>
            <a:off x="600075" y="2930525"/>
            <a:ext cx="296799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模仿优秀论文的表达方式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32" name="Shape 13"/>
          <p:cNvSpPr/>
          <p:nvPr/>
        </p:nvSpPr>
        <p:spPr>
          <a:xfrm>
            <a:off x="6229350" y="111569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94980" y="33352"/>
                </a:moveTo>
                <a:lnTo>
                  <a:pt x="200025" y="38130"/>
                </a:lnTo>
                <a:lnTo>
                  <a:pt x="200025" y="14288"/>
                </a:lnTo>
                <a:cubicBezTo>
                  <a:pt x="200025" y="6385"/>
                  <a:pt x="206410" y="0"/>
                  <a:pt x="214313" y="0"/>
                </a:cubicBezTo>
                <a:cubicBezTo>
                  <a:pt x="222215" y="0"/>
                  <a:pt x="228600" y="6385"/>
                  <a:pt x="228600" y="14288"/>
                </a:cubicBezTo>
                <a:lnTo>
                  <a:pt x="228600" y="71438"/>
                </a:lnTo>
                <a:cubicBezTo>
                  <a:pt x="228600" y="79340"/>
                  <a:pt x="222215" y="85725"/>
                  <a:pt x="214313" y="85725"/>
                </a:cubicBezTo>
                <a:lnTo>
                  <a:pt x="157163" y="85725"/>
                </a:lnTo>
                <a:cubicBezTo>
                  <a:pt x="149260" y="85725"/>
                  <a:pt x="142875" y="79340"/>
                  <a:pt x="142875" y="71438"/>
                </a:cubicBezTo>
                <a:cubicBezTo>
                  <a:pt x="142875" y="63535"/>
                  <a:pt x="149260" y="57150"/>
                  <a:pt x="157163" y="57150"/>
                </a:cubicBezTo>
                <a:lnTo>
                  <a:pt x="178549" y="57150"/>
                </a:lnTo>
                <a:lnTo>
                  <a:pt x="175156" y="53935"/>
                </a:lnTo>
                <a:cubicBezTo>
                  <a:pt x="175067" y="53846"/>
                  <a:pt x="174977" y="53757"/>
                  <a:pt x="174888" y="53667"/>
                </a:cubicBezTo>
                <a:cubicBezTo>
                  <a:pt x="141402" y="20181"/>
                  <a:pt x="87154" y="20181"/>
                  <a:pt x="53667" y="53667"/>
                </a:cubicBezTo>
                <a:cubicBezTo>
                  <a:pt x="20181" y="87154"/>
                  <a:pt x="20181" y="141402"/>
                  <a:pt x="53667" y="174888"/>
                </a:cubicBezTo>
                <a:cubicBezTo>
                  <a:pt x="87154" y="208374"/>
                  <a:pt x="141402" y="208374"/>
                  <a:pt x="174888" y="174888"/>
                </a:cubicBezTo>
                <a:cubicBezTo>
                  <a:pt x="178549" y="171227"/>
                  <a:pt x="181808" y="167342"/>
                  <a:pt x="184666" y="163235"/>
                </a:cubicBezTo>
                <a:cubicBezTo>
                  <a:pt x="189175" y="156761"/>
                  <a:pt x="198105" y="155198"/>
                  <a:pt x="204579" y="159707"/>
                </a:cubicBezTo>
                <a:cubicBezTo>
                  <a:pt x="211053" y="164217"/>
                  <a:pt x="212616" y="173147"/>
                  <a:pt x="208106" y="179621"/>
                </a:cubicBezTo>
                <a:cubicBezTo>
                  <a:pt x="204311" y="185068"/>
                  <a:pt x="199980" y="190247"/>
                  <a:pt x="195114" y="195114"/>
                </a:cubicBezTo>
                <a:cubicBezTo>
                  <a:pt x="150465" y="239762"/>
                  <a:pt x="78090" y="239762"/>
                  <a:pt x="33486" y="195114"/>
                </a:cubicBezTo>
                <a:cubicBezTo>
                  <a:pt x="-11117" y="150465"/>
                  <a:pt x="-11162" y="78135"/>
                  <a:pt x="33486" y="33486"/>
                </a:cubicBezTo>
                <a:cubicBezTo>
                  <a:pt x="78090" y="-11117"/>
                  <a:pt x="150331" y="-11162"/>
                  <a:pt x="194980" y="33352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33" name="Text 14"/>
          <p:cNvSpPr/>
          <p:nvPr/>
        </p:nvSpPr>
        <p:spPr>
          <a:xfrm>
            <a:off x="6600825" y="1077595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复现论文过程</a:t>
            </a:r>
            <a:endParaRPr lang="en-US" sz="18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6200775" y="1534795"/>
            <a:ext cx="56483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4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亲自动手复现了几篇国赛论文，在复现过程中遇到了各种实际问题，并通过不断尝试找到了解决方案。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35" name="Shape 16"/>
          <p:cNvSpPr/>
          <p:nvPr/>
        </p:nvSpPr>
        <p:spPr>
          <a:xfrm>
            <a:off x="6257925" y="228250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36" name="Text 17"/>
          <p:cNvSpPr/>
          <p:nvPr/>
        </p:nvSpPr>
        <p:spPr>
          <a:xfrm>
            <a:off x="6467475" y="2244725"/>
            <a:ext cx="418655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方正楷体_GBK" panose="03000509000000000000" charset="-122"/>
              </a:rPr>
              <a:t>发现Word需要安装</a:t>
            </a:r>
            <a:r>
              <a:rPr lang="en-US" sz="16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方正楷体_GBK" panose="03000509000000000000" charset="-122"/>
              </a:rPr>
              <a:t>MathType插件</a:t>
            </a: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方正楷体_GBK" panose="03000509000000000000" charset="-122"/>
              </a:rPr>
              <a:t>编辑复杂公式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方正楷体_GBK" panose="03000509000000000000" charset="-122"/>
            </a:endParaRPr>
          </a:p>
        </p:txBody>
      </p:sp>
      <p:sp>
        <p:nvSpPr>
          <p:cNvPr id="37" name="Shape 18"/>
          <p:cNvSpPr/>
          <p:nvPr/>
        </p:nvSpPr>
        <p:spPr>
          <a:xfrm>
            <a:off x="6257925" y="262540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38" name="Text 19"/>
          <p:cNvSpPr/>
          <p:nvPr/>
        </p:nvSpPr>
        <p:spPr>
          <a:xfrm>
            <a:off x="6467475" y="2587625"/>
            <a:ext cx="382968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学会图表绘制与数据可视化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39" name="Shape 20"/>
          <p:cNvSpPr/>
          <p:nvPr/>
        </p:nvSpPr>
        <p:spPr>
          <a:xfrm>
            <a:off x="6257925" y="296830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40" name="Text 21"/>
          <p:cNvSpPr/>
          <p:nvPr/>
        </p:nvSpPr>
        <p:spPr>
          <a:xfrm>
            <a:off x="6467475" y="2930525"/>
            <a:ext cx="373443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理解模型与写作的衔接技巧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41" name="Shape 22"/>
          <p:cNvSpPr/>
          <p:nvPr/>
        </p:nvSpPr>
        <p:spPr>
          <a:xfrm>
            <a:off x="333375" y="3387408"/>
            <a:ext cx="11430000" cy="2209800"/>
          </a:xfrm>
          <a:custGeom>
            <a:avLst/>
            <a:gdLst/>
            <a:ahLst/>
            <a:cxnLst/>
            <a:rect l="l" t="t" r="r" b="b"/>
            <a:pathLst>
              <a:path w="11430000" h="2209800">
                <a:moveTo>
                  <a:pt x="76194" y="0"/>
                </a:moveTo>
                <a:lnTo>
                  <a:pt x="11353806" y="0"/>
                </a:lnTo>
                <a:cubicBezTo>
                  <a:pt x="11395887" y="0"/>
                  <a:pt x="11430000" y="34113"/>
                  <a:pt x="11430000" y="76194"/>
                </a:cubicBezTo>
                <a:lnTo>
                  <a:pt x="11430000" y="2133606"/>
                </a:lnTo>
                <a:cubicBezTo>
                  <a:pt x="11430000" y="2175687"/>
                  <a:pt x="11395887" y="2209800"/>
                  <a:pt x="11353806" y="2209800"/>
                </a:cubicBezTo>
                <a:lnTo>
                  <a:pt x="76194" y="2209800"/>
                </a:lnTo>
                <a:cubicBezTo>
                  <a:pt x="34113" y="2209800"/>
                  <a:pt x="0" y="2175687"/>
                  <a:pt x="0" y="2133606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42" name="Shape 23"/>
          <p:cNvSpPr/>
          <p:nvPr/>
        </p:nvSpPr>
        <p:spPr>
          <a:xfrm>
            <a:off x="590550" y="365410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43" name="Text 24"/>
          <p:cNvSpPr/>
          <p:nvPr/>
        </p:nvSpPr>
        <p:spPr>
          <a:xfrm>
            <a:off x="847725" y="3616008"/>
            <a:ext cx="108013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复现过程中常见问题</a:t>
            </a:r>
            <a:endParaRPr lang="en-US" sz="18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44" name="Shape 25"/>
          <p:cNvSpPr/>
          <p:nvPr/>
        </p:nvSpPr>
        <p:spPr>
          <a:xfrm>
            <a:off x="2009775" y="407320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49B5D">
              <a:alpha val="20000"/>
            </a:srgbClr>
          </a:solidFill>
        </p:spPr>
      </p:sp>
      <p:sp>
        <p:nvSpPr>
          <p:cNvPr id="45" name="Shape 26"/>
          <p:cNvSpPr/>
          <p:nvPr/>
        </p:nvSpPr>
        <p:spPr>
          <a:xfrm>
            <a:off x="2200275" y="426370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46" name="Text 27"/>
          <p:cNvSpPr/>
          <p:nvPr/>
        </p:nvSpPr>
        <p:spPr>
          <a:xfrm>
            <a:off x="519113" y="4797108"/>
            <a:ext cx="3590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公式编辑</a:t>
            </a:r>
            <a:endParaRPr lang="en-US" sz="135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47" name="Text 28"/>
          <p:cNvSpPr/>
          <p:nvPr/>
        </p:nvSpPr>
        <p:spPr>
          <a:xfrm>
            <a:off x="523875" y="5140008"/>
            <a:ext cx="3581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复杂数学公式无法直接输入</a:t>
            </a:r>
            <a:endParaRPr lang="en-US" sz="12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48" name="Shape 29"/>
          <p:cNvSpPr/>
          <p:nvPr/>
        </p:nvSpPr>
        <p:spPr>
          <a:xfrm>
            <a:off x="5743575" y="407320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49" name="Shape 30"/>
          <p:cNvSpPr/>
          <p:nvPr/>
        </p:nvSpPr>
        <p:spPr>
          <a:xfrm>
            <a:off x="5934075" y="426370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50" name="Text 31"/>
          <p:cNvSpPr/>
          <p:nvPr/>
        </p:nvSpPr>
        <p:spPr>
          <a:xfrm>
            <a:off x="4252913" y="4797108"/>
            <a:ext cx="3590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图表绘制</a:t>
            </a:r>
            <a:endParaRPr lang="en-US" sz="135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51" name="Text 32"/>
          <p:cNvSpPr/>
          <p:nvPr/>
        </p:nvSpPr>
        <p:spPr>
          <a:xfrm>
            <a:off x="4257675" y="5140008"/>
            <a:ext cx="3581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数据可视化效果不佳</a:t>
            </a:r>
            <a:endParaRPr lang="en-US" sz="12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52" name="Shape 33"/>
          <p:cNvSpPr/>
          <p:nvPr/>
        </p:nvSpPr>
        <p:spPr>
          <a:xfrm>
            <a:off x="9477375" y="407320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696A7">
              <a:alpha val="20000"/>
            </a:srgbClr>
          </a:solidFill>
        </p:spPr>
      </p:sp>
      <p:sp>
        <p:nvSpPr>
          <p:cNvPr id="53" name="Shape 34"/>
          <p:cNvSpPr/>
          <p:nvPr/>
        </p:nvSpPr>
        <p:spPr>
          <a:xfrm>
            <a:off x="9653588" y="426370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8696A7"/>
          </a:solidFill>
        </p:spPr>
      </p:sp>
      <p:sp>
        <p:nvSpPr>
          <p:cNvPr id="54" name="Text 35"/>
          <p:cNvSpPr/>
          <p:nvPr/>
        </p:nvSpPr>
        <p:spPr>
          <a:xfrm>
            <a:off x="7986713" y="4797108"/>
            <a:ext cx="3590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代码实现</a:t>
            </a:r>
            <a:endParaRPr lang="en-US" sz="135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55" name="Text 36"/>
          <p:cNvSpPr/>
          <p:nvPr/>
        </p:nvSpPr>
        <p:spPr>
          <a:xfrm>
            <a:off x="7991475" y="5140008"/>
            <a:ext cx="3581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算法理解与编程困难</a:t>
            </a:r>
            <a:endParaRPr lang="en-US" sz="12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56" name="Shape 37"/>
          <p:cNvSpPr/>
          <p:nvPr/>
        </p:nvSpPr>
        <p:spPr>
          <a:xfrm>
            <a:off x="352425" y="5825808"/>
            <a:ext cx="38100" cy="276225"/>
          </a:xfrm>
          <a:custGeom>
            <a:avLst/>
            <a:gdLst/>
            <a:ahLst/>
            <a:cxnLst/>
            <a:rect l="l" t="t" r="r" b="b"/>
            <a:pathLst>
              <a:path w="38100" h="276225">
                <a:moveTo>
                  <a:pt x="0" y="0"/>
                </a:moveTo>
                <a:lnTo>
                  <a:pt x="38100" y="0"/>
                </a:lnTo>
                <a:lnTo>
                  <a:pt x="38100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solidFill>
            <a:srgbClr val="E49B5D"/>
          </a:solidFill>
        </p:spPr>
      </p:sp>
      <p:sp>
        <p:nvSpPr>
          <p:cNvPr id="57" name="Shape 38"/>
          <p:cNvSpPr/>
          <p:nvPr/>
        </p:nvSpPr>
        <p:spPr>
          <a:xfrm>
            <a:off x="635794" y="586390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80367"/>
                </a:moveTo>
                <a:cubicBezTo>
                  <a:pt x="0" y="55699"/>
                  <a:pt x="19980" y="35719"/>
                  <a:pt x="44648" y="35719"/>
                </a:cubicBezTo>
                <a:lnTo>
                  <a:pt x="47625" y="35719"/>
                </a:lnTo>
                <a:cubicBezTo>
                  <a:pt x="54211" y="35719"/>
                  <a:pt x="59531" y="41039"/>
                  <a:pt x="59531" y="47625"/>
                </a:cubicBezTo>
                <a:cubicBezTo>
                  <a:pt x="59531" y="54211"/>
                  <a:pt x="54211" y="59531"/>
                  <a:pt x="47625" y="59531"/>
                </a:cubicBezTo>
                <a:lnTo>
                  <a:pt x="44648" y="59531"/>
                </a:lnTo>
                <a:cubicBezTo>
                  <a:pt x="33151" y="59531"/>
                  <a:pt x="23812" y="68870"/>
                  <a:pt x="23812" y="80367"/>
                </a:cubicBezTo>
                <a:lnTo>
                  <a:pt x="23812" y="83344"/>
                </a:lnTo>
                <a:lnTo>
                  <a:pt x="47625" y="83344"/>
                </a:lnTo>
                <a:cubicBezTo>
                  <a:pt x="60759" y="83344"/>
                  <a:pt x="71438" y="94022"/>
                  <a:pt x="71438" y="107156"/>
                </a:cubicBezTo>
                <a:lnTo>
                  <a:pt x="71438" y="130969"/>
                </a:lnTo>
                <a:cubicBezTo>
                  <a:pt x="71438" y="144103"/>
                  <a:pt x="60759" y="154781"/>
                  <a:pt x="47625" y="154781"/>
                </a:cubicBezTo>
                <a:lnTo>
                  <a:pt x="23812" y="154781"/>
                </a:lnTo>
                <a:cubicBezTo>
                  <a:pt x="10678" y="154781"/>
                  <a:pt x="0" y="144103"/>
                  <a:pt x="0" y="130969"/>
                </a:cubicBezTo>
                <a:lnTo>
                  <a:pt x="0" y="80367"/>
                </a:lnTo>
                <a:close/>
                <a:moveTo>
                  <a:pt x="95250" y="80367"/>
                </a:moveTo>
                <a:cubicBezTo>
                  <a:pt x="95250" y="55699"/>
                  <a:pt x="115230" y="35719"/>
                  <a:pt x="139898" y="35719"/>
                </a:cubicBezTo>
                <a:lnTo>
                  <a:pt x="142875" y="35719"/>
                </a:lnTo>
                <a:cubicBezTo>
                  <a:pt x="149461" y="35719"/>
                  <a:pt x="154781" y="41039"/>
                  <a:pt x="154781" y="47625"/>
                </a:cubicBezTo>
                <a:cubicBezTo>
                  <a:pt x="154781" y="54211"/>
                  <a:pt x="149461" y="59531"/>
                  <a:pt x="142875" y="59531"/>
                </a:cubicBezTo>
                <a:lnTo>
                  <a:pt x="139898" y="59531"/>
                </a:lnTo>
                <a:cubicBezTo>
                  <a:pt x="128401" y="59531"/>
                  <a:pt x="119063" y="68870"/>
                  <a:pt x="119063" y="80367"/>
                </a:cubicBezTo>
                <a:lnTo>
                  <a:pt x="119063" y="83344"/>
                </a:lnTo>
                <a:lnTo>
                  <a:pt x="142875" y="83344"/>
                </a:lnTo>
                <a:cubicBezTo>
                  <a:pt x="156009" y="83344"/>
                  <a:pt x="166688" y="94022"/>
                  <a:pt x="166688" y="107156"/>
                </a:cubicBezTo>
                <a:lnTo>
                  <a:pt x="166688" y="130969"/>
                </a:lnTo>
                <a:cubicBezTo>
                  <a:pt x="166688" y="144103"/>
                  <a:pt x="156009" y="154781"/>
                  <a:pt x="142875" y="154781"/>
                </a:cubicBezTo>
                <a:lnTo>
                  <a:pt x="119063" y="154781"/>
                </a:lnTo>
                <a:cubicBezTo>
                  <a:pt x="105928" y="154781"/>
                  <a:pt x="95250" y="144103"/>
                  <a:pt x="95250" y="130969"/>
                </a:cubicBezTo>
                <a:lnTo>
                  <a:pt x="95250" y="80367"/>
                </a:lnTo>
                <a:close/>
              </a:path>
            </a:pathLst>
          </a:custGeom>
          <a:solidFill>
            <a:srgbClr val="E49B5D"/>
          </a:solidFill>
        </p:spPr>
      </p:sp>
      <p:sp>
        <p:nvSpPr>
          <p:cNvPr id="58" name="Text 39"/>
          <p:cNvSpPr/>
          <p:nvPr/>
        </p:nvSpPr>
        <p:spPr>
          <a:xfrm>
            <a:off x="952500" y="5825808"/>
            <a:ext cx="10782300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方正楷体_GBK" panose="03000509000000000000" charset="-122"/>
              </a:rPr>
              <a:t>实战经验：</a:t>
            </a: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方正楷体_GBK" panose="03000509000000000000" charset="-122"/>
              </a:rPr>
              <a:t>只有在复现过程中，你才能真正发现问题所在。每解决一个问题，你的能力就提升一分。建议大家在赛前至少复现1-2篇完整论文。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方正楷体_GBK" panose="03000509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144940"/>
            <a:ext cx="2631440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en-US" sz="3200" b="1" dirty="0"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  <a:sym typeface="+mn-ea"/>
              </a:rPr>
              <a:t>图表绘制技巧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332480" y="217805"/>
            <a:ext cx="9348470" cy="439420"/>
            <a:chOff x="2584397" y="217491"/>
            <a:chExt cx="10096500" cy="439541"/>
          </a:xfrm>
        </p:grpSpPr>
        <p:sp>
          <p:nvSpPr>
            <p:cNvPr id="4" name="圆角矩形 3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Text 3"/>
          <p:cNvSpPr/>
          <p:nvPr/>
        </p:nvSpPr>
        <p:spPr>
          <a:xfrm>
            <a:off x="1047750" y="89535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80000"/>
              </a:lnSpc>
            </a:pPr>
            <a:endParaRPr lang="en-US" sz="36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44" name="Shape 4"/>
          <p:cNvSpPr/>
          <p:nvPr/>
        </p:nvSpPr>
        <p:spPr>
          <a:xfrm flipH="1">
            <a:off x="313055" y="1162050"/>
            <a:ext cx="76200" cy="2802255"/>
          </a:xfrm>
          <a:custGeom>
            <a:avLst/>
            <a:gdLst/>
            <a:ahLst/>
            <a:cxnLst/>
            <a:rect l="l" t="t" r="r" b="b"/>
            <a:pathLst>
              <a:path w="38100" h="2009775">
                <a:moveTo>
                  <a:pt x="0" y="0"/>
                </a:moveTo>
                <a:lnTo>
                  <a:pt x="38100" y="0"/>
                </a:lnTo>
                <a:lnTo>
                  <a:pt x="38100" y="2009775"/>
                </a:lnTo>
                <a:lnTo>
                  <a:pt x="0" y="2009775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45" name="Shape 5"/>
          <p:cNvSpPr/>
          <p:nvPr/>
        </p:nvSpPr>
        <p:spPr>
          <a:xfrm>
            <a:off x="614363" y="12001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57150" y="50006"/>
                </a:moveTo>
                <a:cubicBezTo>
                  <a:pt x="68978" y="50006"/>
                  <a:pt x="78581" y="59609"/>
                  <a:pt x="78581" y="71438"/>
                </a:cubicBezTo>
                <a:cubicBezTo>
                  <a:pt x="78581" y="83266"/>
                  <a:pt x="68978" y="92869"/>
                  <a:pt x="57150" y="92869"/>
                </a:cubicBezTo>
                <a:cubicBezTo>
                  <a:pt x="45322" y="92869"/>
                  <a:pt x="35719" y="83266"/>
                  <a:pt x="35719" y="71438"/>
                </a:cubicBezTo>
                <a:cubicBezTo>
                  <a:pt x="35719" y="59609"/>
                  <a:pt x="45322" y="50006"/>
                  <a:pt x="57150" y="50006"/>
                </a:cubicBezTo>
                <a:close/>
                <a:moveTo>
                  <a:pt x="121444" y="100013"/>
                </a:moveTo>
                <a:cubicBezTo>
                  <a:pt x="125194" y="100013"/>
                  <a:pt x="128632" y="101977"/>
                  <a:pt x="130597" y="105147"/>
                </a:cubicBezTo>
                <a:lnTo>
                  <a:pt x="169887" y="169441"/>
                </a:lnTo>
                <a:cubicBezTo>
                  <a:pt x="171896" y="172745"/>
                  <a:pt x="171986" y="176897"/>
                  <a:pt x="170111" y="180290"/>
                </a:cubicBezTo>
                <a:cubicBezTo>
                  <a:pt x="168235" y="183684"/>
                  <a:pt x="164619" y="185738"/>
                  <a:pt x="160734" y="185738"/>
                </a:cubicBezTo>
                <a:lnTo>
                  <a:pt x="39291" y="185738"/>
                </a:lnTo>
                <a:cubicBezTo>
                  <a:pt x="35317" y="185738"/>
                  <a:pt x="31611" y="183505"/>
                  <a:pt x="29781" y="179978"/>
                </a:cubicBezTo>
                <a:cubicBezTo>
                  <a:pt x="27950" y="176451"/>
                  <a:pt x="28218" y="172164"/>
                  <a:pt x="30495" y="168905"/>
                </a:cubicBezTo>
                <a:lnTo>
                  <a:pt x="55498" y="133186"/>
                </a:lnTo>
                <a:cubicBezTo>
                  <a:pt x="57507" y="130329"/>
                  <a:pt x="60767" y="128632"/>
                  <a:pt x="64294" y="128632"/>
                </a:cubicBezTo>
                <a:cubicBezTo>
                  <a:pt x="67821" y="128632"/>
                  <a:pt x="71080" y="130329"/>
                  <a:pt x="73089" y="133186"/>
                </a:cubicBezTo>
                <a:lnTo>
                  <a:pt x="84877" y="150063"/>
                </a:lnTo>
                <a:lnTo>
                  <a:pt x="112291" y="105192"/>
                </a:lnTo>
                <a:cubicBezTo>
                  <a:pt x="114255" y="102022"/>
                  <a:pt x="117693" y="100057"/>
                  <a:pt x="121444" y="100057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46" name="Text 6"/>
          <p:cNvSpPr/>
          <p:nvPr/>
        </p:nvSpPr>
        <p:spPr>
          <a:xfrm>
            <a:off x="971550" y="1162050"/>
            <a:ext cx="250253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摘要图绘制</a:t>
            </a:r>
            <a:endParaRPr lang="en-US" sz="24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47" name="Text 7"/>
          <p:cNvSpPr/>
          <p:nvPr/>
        </p:nvSpPr>
        <p:spPr>
          <a:xfrm>
            <a:off x="571500" y="1915160"/>
            <a:ext cx="53816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4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方正楷体_GBK" panose="03000509000000000000" charset="-122"/>
              </a:rPr>
              <a:t>      摘要图是论文的"门面"，能快速传达研究内容和核心观点。我当时看了大量优秀论文的摘要图，通过模仿学习，逐步掌握了绘制技巧。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方正楷体_GBK" panose="03000509000000000000" charset="-122"/>
            </a:endParaRPr>
          </a:p>
        </p:txBody>
      </p:sp>
      <p:sp>
        <p:nvSpPr>
          <p:cNvPr id="48" name="Shape 8"/>
          <p:cNvSpPr/>
          <p:nvPr/>
        </p:nvSpPr>
        <p:spPr>
          <a:xfrm>
            <a:off x="526415" y="30400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49" name="Text 9"/>
          <p:cNvSpPr/>
          <p:nvPr/>
        </p:nvSpPr>
        <p:spPr>
          <a:xfrm>
            <a:off x="774065" y="3002280"/>
            <a:ext cx="324548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学习优秀论文的摘要图设计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50" name="Shape 10"/>
          <p:cNvSpPr/>
          <p:nvPr/>
        </p:nvSpPr>
        <p:spPr>
          <a:xfrm>
            <a:off x="526415" y="33448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51" name="Text 11"/>
          <p:cNvSpPr/>
          <p:nvPr/>
        </p:nvSpPr>
        <p:spPr>
          <a:xfrm>
            <a:off x="774065" y="3307080"/>
            <a:ext cx="3352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注意字体统一与配色协调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52" name="Shape 12"/>
          <p:cNvSpPr/>
          <p:nvPr/>
        </p:nvSpPr>
        <p:spPr>
          <a:xfrm>
            <a:off x="526415" y="36496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53" name="Text 13"/>
          <p:cNvSpPr/>
          <p:nvPr/>
        </p:nvSpPr>
        <p:spPr>
          <a:xfrm>
            <a:off x="774065" y="3611880"/>
            <a:ext cx="344868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合理分板块，逻辑清晰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64" name="Shape 24"/>
          <p:cNvSpPr/>
          <p:nvPr/>
        </p:nvSpPr>
        <p:spPr>
          <a:xfrm>
            <a:off x="342900" y="4527868"/>
            <a:ext cx="38100" cy="1866900"/>
          </a:xfrm>
          <a:custGeom>
            <a:avLst/>
            <a:gdLst/>
            <a:ahLst/>
            <a:cxnLst/>
            <a:rect l="l" t="t" r="r" b="b"/>
            <a:pathLst>
              <a:path w="38100" h="1866900">
                <a:moveTo>
                  <a:pt x="0" y="0"/>
                </a:moveTo>
                <a:lnTo>
                  <a:pt x="38100" y="0"/>
                </a:lnTo>
                <a:lnTo>
                  <a:pt x="381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E49B5D"/>
          </a:solidFill>
        </p:spPr>
      </p:sp>
      <p:sp>
        <p:nvSpPr>
          <p:cNvPr id="65" name="Shape 25"/>
          <p:cNvSpPr/>
          <p:nvPr/>
        </p:nvSpPr>
        <p:spPr>
          <a:xfrm>
            <a:off x="604838" y="456596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57" y="43354"/>
                </a:moveTo>
                <a:lnTo>
                  <a:pt x="100057" y="65499"/>
                </a:lnTo>
                <a:lnTo>
                  <a:pt x="100280" y="65723"/>
                </a:lnTo>
                <a:cubicBezTo>
                  <a:pt x="103183" y="28932"/>
                  <a:pt x="133945" y="0"/>
                  <a:pt x="171495" y="0"/>
                </a:cubicBezTo>
                <a:cubicBezTo>
                  <a:pt x="180469" y="0"/>
                  <a:pt x="189086" y="1652"/>
                  <a:pt x="196989" y="4688"/>
                </a:cubicBezTo>
                <a:cubicBezTo>
                  <a:pt x="201454" y="6385"/>
                  <a:pt x="202257" y="12055"/>
                  <a:pt x="198909" y="15448"/>
                </a:cubicBezTo>
                <a:lnTo>
                  <a:pt x="159306" y="55052"/>
                </a:lnTo>
                <a:cubicBezTo>
                  <a:pt x="157966" y="56391"/>
                  <a:pt x="157207" y="58222"/>
                  <a:pt x="157207" y="60097"/>
                </a:cubicBezTo>
                <a:lnTo>
                  <a:pt x="157207" y="78581"/>
                </a:lnTo>
                <a:cubicBezTo>
                  <a:pt x="157207" y="82510"/>
                  <a:pt x="160422" y="85725"/>
                  <a:pt x="164351" y="85725"/>
                </a:cubicBezTo>
                <a:lnTo>
                  <a:pt x="182835" y="85725"/>
                </a:lnTo>
                <a:cubicBezTo>
                  <a:pt x="184711" y="85725"/>
                  <a:pt x="186541" y="84966"/>
                  <a:pt x="187881" y="83627"/>
                </a:cubicBezTo>
                <a:lnTo>
                  <a:pt x="227484" y="44023"/>
                </a:lnTo>
                <a:cubicBezTo>
                  <a:pt x="230877" y="40630"/>
                  <a:pt x="236547" y="41478"/>
                  <a:pt x="238244" y="45943"/>
                </a:cubicBezTo>
                <a:cubicBezTo>
                  <a:pt x="241280" y="53846"/>
                  <a:pt x="242932" y="62463"/>
                  <a:pt x="242932" y="71438"/>
                </a:cubicBezTo>
                <a:cubicBezTo>
                  <a:pt x="242932" y="98494"/>
                  <a:pt x="227886" y="122069"/>
                  <a:pt x="205651" y="134169"/>
                </a:cubicBezTo>
                <a:lnTo>
                  <a:pt x="242039" y="170557"/>
                </a:lnTo>
                <a:cubicBezTo>
                  <a:pt x="250388" y="178906"/>
                  <a:pt x="250388" y="192479"/>
                  <a:pt x="242039" y="200873"/>
                </a:cubicBezTo>
                <a:lnTo>
                  <a:pt x="215205" y="227707"/>
                </a:lnTo>
                <a:cubicBezTo>
                  <a:pt x="206856" y="236056"/>
                  <a:pt x="193283" y="236056"/>
                  <a:pt x="184889" y="227707"/>
                </a:cubicBezTo>
                <a:lnTo>
                  <a:pt x="128632" y="171450"/>
                </a:lnTo>
                <a:cubicBezTo>
                  <a:pt x="116398" y="159216"/>
                  <a:pt x="113630" y="141134"/>
                  <a:pt x="120372" y="126221"/>
                </a:cubicBezTo>
                <a:lnTo>
                  <a:pt x="79876" y="85725"/>
                </a:lnTo>
                <a:lnTo>
                  <a:pt x="57730" y="85725"/>
                </a:lnTo>
                <a:cubicBezTo>
                  <a:pt x="52953" y="85725"/>
                  <a:pt x="48488" y="83359"/>
                  <a:pt x="45854" y="79385"/>
                </a:cubicBezTo>
                <a:lnTo>
                  <a:pt x="10448" y="26298"/>
                </a:lnTo>
                <a:cubicBezTo>
                  <a:pt x="8573" y="23485"/>
                  <a:pt x="8930" y="19690"/>
                  <a:pt x="11341" y="17279"/>
                </a:cubicBezTo>
                <a:lnTo>
                  <a:pt x="31611" y="-2991"/>
                </a:lnTo>
                <a:cubicBezTo>
                  <a:pt x="34022" y="-5402"/>
                  <a:pt x="37773" y="-5760"/>
                  <a:pt x="40630" y="-3884"/>
                </a:cubicBezTo>
                <a:lnTo>
                  <a:pt x="93717" y="31477"/>
                </a:lnTo>
                <a:cubicBezTo>
                  <a:pt x="97691" y="34111"/>
                  <a:pt x="100057" y="38576"/>
                  <a:pt x="100057" y="43354"/>
                </a:cubicBezTo>
                <a:close/>
                <a:moveTo>
                  <a:pt x="96262" y="132427"/>
                </a:moveTo>
                <a:cubicBezTo>
                  <a:pt x="93449" y="148947"/>
                  <a:pt x="97334" y="166405"/>
                  <a:pt x="108049" y="180380"/>
                </a:cubicBezTo>
                <a:lnTo>
                  <a:pt x="65633" y="222751"/>
                </a:lnTo>
                <a:cubicBezTo>
                  <a:pt x="53087" y="235297"/>
                  <a:pt x="32727" y="235297"/>
                  <a:pt x="20181" y="222751"/>
                </a:cubicBezTo>
                <a:cubicBezTo>
                  <a:pt x="7635" y="210205"/>
                  <a:pt x="7635" y="189845"/>
                  <a:pt x="20181" y="177299"/>
                </a:cubicBezTo>
                <a:lnTo>
                  <a:pt x="80635" y="116845"/>
                </a:lnTo>
                <a:lnTo>
                  <a:pt x="96262" y="132472"/>
                </a:lnTo>
                <a:close/>
              </a:path>
            </a:pathLst>
          </a:custGeom>
          <a:solidFill>
            <a:srgbClr val="E49B5D"/>
          </a:solidFill>
        </p:spPr>
      </p:sp>
      <p:sp>
        <p:nvSpPr>
          <p:cNvPr id="66" name="Text 26"/>
          <p:cNvSpPr/>
          <p:nvPr/>
        </p:nvSpPr>
        <p:spPr>
          <a:xfrm>
            <a:off x="876300" y="4527868"/>
            <a:ext cx="109918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绘图工具与流程</a:t>
            </a:r>
            <a:endParaRPr lang="en-US" sz="24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67" name="Shape 27"/>
          <p:cNvSpPr/>
          <p:nvPr/>
        </p:nvSpPr>
        <p:spPr>
          <a:xfrm>
            <a:off x="895350" y="498506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68" name="Shape 28"/>
          <p:cNvSpPr/>
          <p:nvPr/>
        </p:nvSpPr>
        <p:spPr>
          <a:xfrm>
            <a:off x="1171575" y="5223193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0" y="35719"/>
                </a:moveTo>
                <a:cubicBezTo>
                  <a:pt x="0" y="16018"/>
                  <a:pt x="16018" y="0"/>
                  <a:pt x="35719" y="0"/>
                </a:cubicBezTo>
                <a:lnTo>
                  <a:pt x="119156" y="0"/>
                </a:lnTo>
                <a:cubicBezTo>
                  <a:pt x="128643" y="0"/>
                  <a:pt x="137740" y="3739"/>
                  <a:pt x="144438" y="10437"/>
                </a:cubicBezTo>
                <a:lnTo>
                  <a:pt x="203876" y="69931"/>
                </a:lnTo>
                <a:cubicBezTo>
                  <a:pt x="210573" y="76628"/>
                  <a:pt x="214313" y="85725"/>
                  <a:pt x="214313" y="95213"/>
                </a:cubicBezTo>
                <a:lnTo>
                  <a:pt x="214313" y="250031"/>
                </a:lnTo>
                <a:cubicBezTo>
                  <a:pt x="214313" y="269732"/>
                  <a:pt x="198295" y="285750"/>
                  <a:pt x="178594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35719"/>
                </a:lnTo>
                <a:close/>
                <a:moveTo>
                  <a:pt x="116086" y="32649"/>
                </a:moveTo>
                <a:lnTo>
                  <a:pt x="116086" y="84832"/>
                </a:lnTo>
                <a:cubicBezTo>
                  <a:pt x="116086" y="92255"/>
                  <a:pt x="122058" y="98227"/>
                  <a:pt x="129480" y="98227"/>
                </a:cubicBezTo>
                <a:lnTo>
                  <a:pt x="181663" y="98227"/>
                </a:lnTo>
                <a:lnTo>
                  <a:pt x="116086" y="32649"/>
                </a:lnTo>
                <a:close/>
                <a:moveTo>
                  <a:pt x="84832" y="142875"/>
                </a:moveTo>
                <a:cubicBezTo>
                  <a:pt x="77409" y="142875"/>
                  <a:pt x="71438" y="148847"/>
                  <a:pt x="71438" y="156270"/>
                </a:cubicBezTo>
                <a:lnTo>
                  <a:pt x="71438" y="236637"/>
                </a:lnTo>
                <a:cubicBezTo>
                  <a:pt x="71438" y="244060"/>
                  <a:pt x="77409" y="250031"/>
                  <a:pt x="84832" y="250031"/>
                </a:cubicBezTo>
                <a:cubicBezTo>
                  <a:pt x="92255" y="250031"/>
                  <a:pt x="98227" y="244060"/>
                  <a:pt x="98227" y="236637"/>
                </a:cubicBezTo>
                <a:lnTo>
                  <a:pt x="98227" y="223242"/>
                </a:lnTo>
                <a:lnTo>
                  <a:pt x="111621" y="223242"/>
                </a:lnTo>
                <a:cubicBezTo>
                  <a:pt x="133834" y="223242"/>
                  <a:pt x="151805" y="205271"/>
                  <a:pt x="151805" y="183059"/>
                </a:cubicBezTo>
                <a:cubicBezTo>
                  <a:pt x="151805" y="160846"/>
                  <a:pt x="133834" y="142875"/>
                  <a:pt x="111621" y="142875"/>
                </a:cubicBezTo>
                <a:lnTo>
                  <a:pt x="84832" y="142875"/>
                </a:lnTo>
                <a:close/>
                <a:moveTo>
                  <a:pt x="111621" y="196453"/>
                </a:moveTo>
                <a:lnTo>
                  <a:pt x="98227" y="196453"/>
                </a:lnTo>
                <a:lnTo>
                  <a:pt x="98227" y="169664"/>
                </a:lnTo>
                <a:lnTo>
                  <a:pt x="111621" y="169664"/>
                </a:lnTo>
                <a:cubicBezTo>
                  <a:pt x="119044" y="169664"/>
                  <a:pt x="125016" y="175636"/>
                  <a:pt x="125016" y="183059"/>
                </a:cubicBezTo>
                <a:cubicBezTo>
                  <a:pt x="125016" y="190481"/>
                  <a:pt x="119044" y="196453"/>
                  <a:pt x="111621" y="196453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69" name="Text 29"/>
          <p:cNvSpPr/>
          <p:nvPr/>
        </p:nvSpPr>
        <p:spPr>
          <a:xfrm>
            <a:off x="542925" y="5861368"/>
            <a:ext cx="1466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PPT</a:t>
            </a:r>
            <a:endParaRPr lang="en-US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70" name="Text 30"/>
          <p:cNvSpPr/>
          <p:nvPr/>
        </p:nvSpPr>
        <p:spPr>
          <a:xfrm>
            <a:off x="381000" y="6166485"/>
            <a:ext cx="233870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操作简单，功能强大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71" name="Shape 31"/>
          <p:cNvSpPr/>
          <p:nvPr/>
        </p:nvSpPr>
        <p:spPr>
          <a:xfrm>
            <a:off x="2819400" y="557561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8696A7"/>
          </a:solidFill>
        </p:spPr>
      </p:sp>
      <p:sp>
        <p:nvSpPr>
          <p:cNvPr id="72" name="Shape 32"/>
          <p:cNvSpPr/>
          <p:nvPr/>
        </p:nvSpPr>
        <p:spPr>
          <a:xfrm>
            <a:off x="4210050" y="498506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73" name="Shape 33"/>
          <p:cNvSpPr/>
          <p:nvPr/>
        </p:nvSpPr>
        <p:spPr>
          <a:xfrm>
            <a:off x="4450556" y="522319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5750" y="142875"/>
                </a:moveTo>
                <a:cubicBezTo>
                  <a:pt x="285750" y="143377"/>
                  <a:pt x="285750" y="143880"/>
                  <a:pt x="285750" y="144382"/>
                </a:cubicBezTo>
                <a:cubicBezTo>
                  <a:pt x="285527" y="164753"/>
                  <a:pt x="266998" y="178594"/>
                  <a:pt x="246627" y="178594"/>
                </a:cubicBezTo>
                <a:lnTo>
                  <a:pt x="191988" y="178594"/>
                </a:lnTo>
                <a:cubicBezTo>
                  <a:pt x="177198" y="178594"/>
                  <a:pt x="165199" y="190593"/>
                  <a:pt x="165199" y="205383"/>
                </a:cubicBezTo>
                <a:cubicBezTo>
                  <a:pt x="165199" y="207280"/>
                  <a:pt x="165422" y="209122"/>
                  <a:pt x="165757" y="210908"/>
                </a:cubicBezTo>
                <a:cubicBezTo>
                  <a:pt x="166929" y="216601"/>
                  <a:pt x="169385" y="222070"/>
                  <a:pt x="171785" y="227595"/>
                </a:cubicBezTo>
                <a:cubicBezTo>
                  <a:pt x="175189" y="235297"/>
                  <a:pt x="178538" y="242943"/>
                  <a:pt x="178538" y="251036"/>
                </a:cubicBezTo>
                <a:cubicBezTo>
                  <a:pt x="178538" y="268784"/>
                  <a:pt x="166483" y="284913"/>
                  <a:pt x="148735" y="285638"/>
                </a:cubicBezTo>
                <a:cubicBezTo>
                  <a:pt x="146782" y="285694"/>
                  <a:pt x="144828" y="285750"/>
                  <a:pt x="142819" y="285750"/>
                </a:cubicBezTo>
                <a:cubicBezTo>
                  <a:pt x="63903" y="285750"/>
                  <a:pt x="-56" y="221791"/>
                  <a:pt x="-56" y="142875"/>
                </a:cubicBezTo>
                <a:cubicBezTo>
                  <a:pt x="-56" y="63959"/>
                  <a:pt x="63959" y="0"/>
                  <a:pt x="142875" y="0"/>
                </a:cubicBezTo>
                <a:cubicBezTo>
                  <a:pt x="221791" y="0"/>
                  <a:pt x="285750" y="63959"/>
                  <a:pt x="285750" y="142875"/>
                </a:cubicBezTo>
                <a:close/>
                <a:moveTo>
                  <a:pt x="71438" y="160734"/>
                </a:moveTo>
                <a:cubicBezTo>
                  <a:pt x="71438" y="150878"/>
                  <a:pt x="63435" y="142875"/>
                  <a:pt x="53578" y="142875"/>
                </a:cubicBezTo>
                <a:cubicBezTo>
                  <a:pt x="43721" y="142875"/>
                  <a:pt x="35719" y="150878"/>
                  <a:pt x="35719" y="160734"/>
                </a:cubicBezTo>
                <a:cubicBezTo>
                  <a:pt x="35719" y="170591"/>
                  <a:pt x="43721" y="178594"/>
                  <a:pt x="53578" y="178594"/>
                </a:cubicBezTo>
                <a:cubicBezTo>
                  <a:pt x="63435" y="178594"/>
                  <a:pt x="71438" y="170591"/>
                  <a:pt x="71438" y="160734"/>
                </a:cubicBezTo>
                <a:close/>
                <a:moveTo>
                  <a:pt x="71438" y="107156"/>
                </a:moveTo>
                <a:cubicBezTo>
                  <a:pt x="81294" y="107156"/>
                  <a:pt x="89297" y="99154"/>
                  <a:pt x="89297" y="89297"/>
                </a:cubicBezTo>
                <a:cubicBezTo>
                  <a:pt x="89297" y="79440"/>
                  <a:pt x="81294" y="71438"/>
                  <a:pt x="71438" y="71438"/>
                </a:cubicBezTo>
                <a:cubicBezTo>
                  <a:pt x="61581" y="71438"/>
                  <a:pt x="53578" y="79440"/>
                  <a:pt x="53578" y="89297"/>
                </a:cubicBezTo>
                <a:cubicBezTo>
                  <a:pt x="53578" y="99154"/>
                  <a:pt x="61581" y="107156"/>
                  <a:pt x="71438" y="107156"/>
                </a:cubicBezTo>
                <a:close/>
                <a:moveTo>
                  <a:pt x="160734" y="53578"/>
                </a:moveTo>
                <a:cubicBezTo>
                  <a:pt x="160734" y="43721"/>
                  <a:pt x="152732" y="35719"/>
                  <a:pt x="142875" y="35719"/>
                </a:cubicBezTo>
                <a:cubicBezTo>
                  <a:pt x="133018" y="35719"/>
                  <a:pt x="125016" y="43721"/>
                  <a:pt x="125016" y="53578"/>
                </a:cubicBezTo>
                <a:cubicBezTo>
                  <a:pt x="125016" y="63435"/>
                  <a:pt x="133018" y="71438"/>
                  <a:pt x="142875" y="71438"/>
                </a:cubicBezTo>
                <a:cubicBezTo>
                  <a:pt x="152732" y="71438"/>
                  <a:pt x="160734" y="63435"/>
                  <a:pt x="160734" y="53578"/>
                </a:cubicBezTo>
                <a:close/>
                <a:moveTo>
                  <a:pt x="214313" y="107156"/>
                </a:moveTo>
                <a:cubicBezTo>
                  <a:pt x="224169" y="107156"/>
                  <a:pt x="232172" y="99154"/>
                  <a:pt x="232172" y="89297"/>
                </a:cubicBezTo>
                <a:cubicBezTo>
                  <a:pt x="232172" y="79440"/>
                  <a:pt x="224169" y="71438"/>
                  <a:pt x="214313" y="71438"/>
                </a:cubicBezTo>
                <a:cubicBezTo>
                  <a:pt x="204456" y="71438"/>
                  <a:pt x="196453" y="79440"/>
                  <a:pt x="196453" y="89297"/>
                </a:cubicBezTo>
                <a:cubicBezTo>
                  <a:pt x="196453" y="99154"/>
                  <a:pt x="204456" y="107156"/>
                  <a:pt x="214313" y="107156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74" name="Text 34"/>
          <p:cNvSpPr/>
          <p:nvPr/>
        </p:nvSpPr>
        <p:spPr>
          <a:xfrm>
            <a:off x="3857625" y="5861368"/>
            <a:ext cx="1466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配色方案</a:t>
            </a:r>
            <a:endParaRPr lang="en-US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75" name="Text 35"/>
          <p:cNvSpPr/>
          <p:nvPr/>
        </p:nvSpPr>
        <p:spPr>
          <a:xfrm>
            <a:off x="3441700" y="6166485"/>
            <a:ext cx="269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协调美观，突出重点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76" name="Shape 36"/>
          <p:cNvSpPr/>
          <p:nvPr/>
        </p:nvSpPr>
        <p:spPr>
          <a:xfrm>
            <a:off x="6134100" y="557561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8696A7"/>
          </a:solidFill>
        </p:spPr>
      </p:sp>
      <p:sp>
        <p:nvSpPr>
          <p:cNvPr id="77" name="Shape 37"/>
          <p:cNvSpPr/>
          <p:nvPr/>
        </p:nvSpPr>
        <p:spPr>
          <a:xfrm>
            <a:off x="7524750" y="498506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696A7"/>
          </a:solidFill>
        </p:spPr>
      </p:sp>
      <p:sp>
        <p:nvSpPr>
          <p:cNvPr id="78" name="Shape 38"/>
          <p:cNvSpPr/>
          <p:nvPr/>
        </p:nvSpPr>
        <p:spPr>
          <a:xfrm>
            <a:off x="7765256" y="522319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9760" y="2902"/>
                </a:moveTo>
                <a:cubicBezTo>
                  <a:pt x="138075" y="-949"/>
                  <a:pt x="147675" y="-949"/>
                  <a:pt x="155990" y="2902"/>
                </a:cubicBezTo>
                <a:lnTo>
                  <a:pt x="277992" y="59271"/>
                </a:lnTo>
                <a:cubicBezTo>
                  <a:pt x="282736" y="61447"/>
                  <a:pt x="285750" y="66191"/>
                  <a:pt x="285750" y="71438"/>
                </a:cubicBezTo>
                <a:cubicBezTo>
                  <a:pt x="285750" y="76684"/>
                  <a:pt x="282736" y="81428"/>
                  <a:pt x="277992" y="83604"/>
                </a:cubicBezTo>
                <a:lnTo>
                  <a:pt x="155990" y="139973"/>
                </a:lnTo>
                <a:cubicBezTo>
                  <a:pt x="147675" y="143824"/>
                  <a:pt x="138075" y="143824"/>
                  <a:pt x="129760" y="139973"/>
                </a:cubicBezTo>
                <a:lnTo>
                  <a:pt x="7758" y="83604"/>
                </a:lnTo>
                <a:cubicBezTo>
                  <a:pt x="3014" y="81372"/>
                  <a:pt x="0" y="76628"/>
                  <a:pt x="0" y="71438"/>
                </a:cubicBezTo>
                <a:cubicBezTo>
                  <a:pt x="0" y="66247"/>
                  <a:pt x="3014" y="61447"/>
                  <a:pt x="7758" y="59271"/>
                </a:cubicBezTo>
                <a:lnTo>
                  <a:pt x="129760" y="2902"/>
                </a:lnTo>
                <a:close/>
                <a:moveTo>
                  <a:pt x="26845" y="121890"/>
                </a:moveTo>
                <a:lnTo>
                  <a:pt x="118542" y="164250"/>
                </a:lnTo>
                <a:cubicBezTo>
                  <a:pt x="134001" y="171394"/>
                  <a:pt x="151805" y="171394"/>
                  <a:pt x="167264" y="164250"/>
                </a:cubicBezTo>
                <a:lnTo>
                  <a:pt x="258961" y="121890"/>
                </a:lnTo>
                <a:lnTo>
                  <a:pt x="277992" y="130708"/>
                </a:lnTo>
                <a:cubicBezTo>
                  <a:pt x="282736" y="132885"/>
                  <a:pt x="285750" y="137629"/>
                  <a:pt x="285750" y="142875"/>
                </a:cubicBezTo>
                <a:cubicBezTo>
                  <a:pt x="285750" y="148121"/>
                  <a:pt x="282736" y="152865"/>
                  <a:pt x="277992" y="155042"/>
                </a:cubicBezTo>
                <a:lnTo>
                  <a:pt x="155990" y="211410"/>
                </a:lnTo>
                <a:cubicBezTo>
                  <a:pt x="147675" y="215261"/>
                  <a:pt x="138075" y="215261"/>
                  <a:pt x="129760" y="211410"/>
                </a:cubicBezTo>
                <a:lnTo>
                  <a:pt x="7758" y="155042"/>
                </a:lnTo>
                <a:cubicBezTo>
                  <a:pt x="3014" y="152809"/>
                  <a:pt x="0" y="148065"/>
                  <a:pt x="0" y="142875"/>
                </a:cubicBezTo>
                <a:cubicBezTo>
                  <a:pt x="0" y="137685"/>
                  <a:pt x="3014" y="132885"/>
                  <a:pt x="7758" y="130708"/>
                </a:cubicBezTo>
                <a:lnTo>
                  <a:pt x="26789" y="121890"/>
                </a:lnTo>
                <a:close/>
                <a:moveTo>
                  <a:pt x="7758" y="202146"/>
                </a:moveTo>
                <a:lnTo>
                  <a:pt x="26789" y="193328"/>
                </a:lnTo>
                <a:lnTo>
                  <a:pt x="118486" y="235688"/>
                </a:lnTo>
                <a:cubicBezTo>
                  <a:pt x="133945" y="242832"/>
                  <a:pt x="151749" y="242832"/>
                  <a:pt x="167208" y="235688"/>
                </a:cubicBezTo>
                <a:lnTo>
                  <a:pt x="258905" y="193328"/>
                </a:lnTo>
                <a:lnTo>
                  <a:pt x="277937" y="202146"/>
                </a:lnTo>
                <a:cubicBezTo>
                  <a:pt x="282680" y="204322"/>
                  <a:pt x="285694" y="209066"/>
                  <a:pt x="285694" y="214313"/>
                </a:cubicBezTo>
                <a:cubicBezTo>
                  <a:pt x="285694" y="219559"/>
                  <a:pt x="282680" y="224303"/>
                  <a:pt x="277937" y="226479"/>
                </a:cubicBezTo>
                <a:lnTo>
                  <a:pt x="155935" y="282848"/>
                </a:lnTo>
                <a:cubicBezTo>
                  <a:pt x="147619" y="286699"/>
                  <a:pt x="138019" y="286699"/>
                  <a:pt x="129704" y="282848"/>
                </a:cubicBezTo>
                <a:lnTo>
                  <a:pt x="7758" y="226479"/>
                </a:lnTo>
                <a:cubicBezTo>
                  <a:pt x="3014" y="224247"/>
                  <a:pt x="0" y="219503"/>
                  <a:pt x="0" y="214313"/>
                </a:cubicBezTo>
                <a:cubicBezTo>
                  <a:pt x="0" y="209122"/>
                  <a:pt x="3014" y="204322"/>
                  <a:pt x="7758" y="202146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79" name="Text 39"/>
          <p:cNvSpPr/>
          <p:nvPr/>
        </p:nvSpPr>
        <p:spPr>
          <a:xfrm>
            <a:off x="7172325" y="5861368"/>
            <a:ext cx="1466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分板块</a:t>
            </a:r>
            <a:endParaRPr lang="en-US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80" name="Text 40"/>
          <p:cNvSpPr/>
          <p:nvPr/>
        </p:nvSpPr>
        <p:spPr>
          <a:xfrm>
            <a:off x="6898640" y="6166485"/>
            <a:ext cx="226631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逻辑清晰，层次分明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81" name="Shape 41"/>
          <p:cNvSpPr/>
          <p:nvPr/>
        </p:nvSpPr>
        <p:spPr>
          <a:xfrm>
            <a:off x="9448800" y="557561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8696A7"/>
          </a:solidFill>
        </p:spPr>
      </p:sp>
      <p:sp>
        <p:nvSpPr>
          <p:cNvPr id="82" name="Shape 42"/>
          <p:cNvSpPr/>
          <p:nvPr/>
        </p:nvSpPr>
        <p:spPr>
          <a:xfrm>
            <a:off x="10763250" y="498506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83" name="Shape 43"/>
          <p:cNvSpPr/>
          <p:nvPr/>
        </p:nvSpPr>
        <p:spPr>
          <a:xfrm>
            <a:off x="11039475" y="5223193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39471" y="37281"/>
                </a:moveTo>
                <a:cubicBezTo>
                  <a:pt x="145275" y="29301"/>
                  <a:pt x="143489" y="18138"/>
                  <a:pt x="135508" y="12334"/>
                </a:cubicBezTo>
                <a:cubicBezTo>
                  <a:pt x="127527" y="6530"/>
                  <a:pt x="116365" y="8316"/>
                  <a:pt x="110561" y="16297"/>
                </a:cubicBezTo>
                <a:lnTo>
                  <a:pt x="51402" y="97613"/>
                </a:lnTo>
                <a:lnTo>
                  <a:pt x="30473" y="76684"/>
                </a:lnTo>
                <a:cubicBezTo>
                  <a:pt x="23496" y="69707"/>
                  <a:pt x="12167" y="69707"/>
                  <a:pt x="5190" y="76684"/>
                </a:cubicBezTo>
                <a:cubicBezTo>
                  <a:pt x="-1786" y="83660"/>
                  <a:pt x="-1786" y="94990"/>
                  <a:pt x="5190" y="101966"/>
                </a:cubicBezTo>
                <a:lnTo>
                  <a:pt x="40909" y="137685"/>
                </a:lnTo>
                <a:cubicBezTo>
                  <a:pt x="44593" y="141368"/>
                  <a:pt x="49727" y="143266"/>
                  <a:pt x="54918" y="142875"/>
                </a:cubicBezTo>
                <a:cubicBezTo>
                  <a:pt x="60108" y="142484"/>
                  <a:pt x="64908" y="139805"/>
                  <a:pt x="67977" y="135564"/>
                </a:cubicBezTo>
                <a:lnTo>
                  <a:pt x="139415" y="37337"/>
                </a:lnTo>
                <a:close/>
                <a:moveTo>
                  <a:pt x="210908" y="113184"/>
                </a:moveTo>
                <a:cubicBezTo>
                  <a:pt x="216712" y="105203"/>
                  <a:pt x="214926" y="94041"/>
                  <a:pt x="206946" y="88236"/>
                </a:cubicBezTo>
                <a:cubicBezTo>
                  <a:pt x="198965" y="82432"/>
                  <a:pt x="187802" y="84218"/>
                  <a:pt x="181998" y="92199"/>
                </a:cubicBezTo>
                <a:lnTo>
                  <a:pt x="87120" y="222628"/>
                </a:lnTo>
                <a:lnTo>
                  <a:pt x="48332" y="183840"/>
                </a:lnTo>
                <a:cubicBezTo>
                  <a:pt x="41356" y="176864"/>
                  <a:pt x="30026" y="176864"/>
                  <a:pt x="23050" y="183840"/>
                </a:cubicBezTo>
                <a:cubicBezTo>
                  <a:pt x="16073" y="190816"/>
                  <a:pt x="16073" y="202146"/>
                  <a:pt x="23050" y="209122"/>
                </a:cubicBezTo>
                <a:lnTo>
                  <a:pt x="76628" y="262700"/>
                </a:lnTo>
                <a:cubicBezTo>
                  <a:pt x="80311" y="266384"/>
                  <a:pt x="85446" y="268281"/>
                  <a:pt x="90636" y="267891"/>
                </a:cubicBezTo>
                <a:cubicBezTo>
                  <a:pt x="95827" y="267500"/>
                  <a:pt x="100626" y="264821"/>
                  <a:pt x="103696" y="260579"/>
                </a:cubicBezTo>
                <a:lnTo>
                  <a:pt x="210852" y="113240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84" name="Text 44"/>
          <p:cNvSpPr/>
          <p:nvPr/>
        </p:nvSpPr>
        <p:spPr>
          <a:xfrm>
            <a:off x="10487025" y="5861368"/>
            <a:ext cx="1314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检查</a:t>
            </a:r>
            <a:endParaRPr lang="en-US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85" name="Text 45"/>
          <p:cNvSpPr/>
          <p:nvPr/>
        </p:nvSpPr>
        <p:spPr>
          <a:xfrm>
            <a:off x="10209530" y="6166485"/>
            <a:ext cx="1869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字体、排版、细节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pic>
        <p:nvPicPr>
          <p:cNvPr id="92" name="图片 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8335" y="732155"/>
            <a:ext cx="4703445" cy="3657600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200" y="2577465"/>
            <a:ext cx="3139440" cy="2059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144940"/>
            <a:ext cx="3039745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en-US" sz="3200" b="1" dirty="0"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  <a:sym typeface="+mn-ea"/>
              </a:rPr>
              <a:t>翻译与润色流程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814445" y="217805"/>
            <a:ext cx="8866505" cy="439420"/>
            <a:chOff x="2584397" y="217491"/>
            <a:chExt cx="10096500" cy="439541"/>
          </a:xfrm>
        </p:grpSpPr>
        <p:sp>
          <p:nvSpPr>
            <p:cNvPr id="4" name="圆角矩形 3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Shape 6"/>
          <p:cNvSpPr/>
          <p:nvPr/>
        </p:nvSpPr>
        <p:spPr>
          <a:xfrm>
            <a:off x="940560" y="1307779"/>
            <a:ext cx="737234" cy="737234"/>
          </a:xfrm>
          <a:custGeom>
            <a:avLst/>
            <a:gdLst/>
            <a:ahLst/>
            <a:cxnLst/>
            <a:rect l="l" t="t" r="r" b="b"/>
            <a:pathLst>
              <a:path w="737234" h="737234">
                <a:moveTo>
                  <a:pt x="147447" y="0"/>
                </a:moveTo>
                <a:lnTo>
                  <a:pt x="589787" y="0"/>
                </a:lnTo>
                <a:cubicBezTo>
                  <a:pt x="671219" y="0"/>
                  <a:pt x="737234" y="66014"/>
                  <a:pt x="737234" y="147447"/>
                </a:cubicBezTo>
                <a:lnTo>
                  <a:pt x="737234" y="589787"/>
                </a:lnTo>
                <a:cubicBezTo>
                  <a:pt x="737234" y="671219"/>
                  <a:pt x="671219" y="737234"/>
                  <a:pt x="589787" y="737234"/>
                </a:cubicBezTo>
                <a:lnTo>
                  <a:pt x="147447" y="737234"/>
                </a:lnTo>
                <a:cubicBezTo>
                  <a:pt x="66014" y="737234"/>
                  <a:pt x="0" y="671219"/>
                  <a:pt x="0" y="589787"/>
                </a:cubicBezTo>
                <a:lnTo>
                  <a:pt x="0" y="147447"/>
                </a:lnTo>
                <a:cubicBezTo>
                  <a:pt x="0" y="66069"/>
                  <a:pt x="66069" y="0"/>
                  <a:pt x="147447" y="0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17" name="Shape 7"/>
          <p:cNvSpPr/>
          <p:nvPr/>
        </p:nvSpPr>
        <p:spPr>
          <a:xfrm>
            <a:off x="1173250" y="1538164"/>
            <a:ext cx="276463" cy="276463"/>
          </a:xfrm>
          <a:custGeom>
            <a:avLst/>
            <a:gdLst/>
            <a:ahLst/>
            <a:cxnLst/>
            <a:rect l="l" t="t" r="r" b="b"/>
            <a:pathLst>
              <a:path w="276463" h="276463">
                <a:moveTo>
                  <a:pt x="190554" y="11447"/>
                </a:moveTo>
                <a:lnTo>
                  <a:pt x="166310" y="35692"/>
                </a:lnTo>
                <a:lnTo>
                  <a:pt x="240771" y="110153"/>
                </a:lnTo>
                <a:lnTo>
                  <a:pt x="265015" y="85909"/>
                </a:lnTo>
                <a:cubicBezTo>
                  <a:pt x="272359" y="78619"/>
                  <a:pt x="276463" y="68684"/>
                  <a:pt x="276463" y="58316"/>
                </a:cubicBezTo>
                <a:cubicBezTo>
                  <a:pt x="276463" y="47949"/>
                  <a:pt x="272359" y="38014"/>
                  <a:pt x="265015" y="30724"/>
                </a:cubicBezTo>
                <a:lnTo>
                  <a:pt x="245739" y="11447"/>
                </a:lnTo>
                <a:cubicBezTo>
                  <a:pt x="238449" y="4104"/>
                  <a:pt x="228514" y="0"/>
                  <a:pt x="218146" y="0"/>
                </a:cubicBezTo>
                <a:cubicBezTo>
                  <a:pt x="207779" y="0"/>
                  <a:pt x="197844" y="4104"/>
                  <a:pt x="190554" y="11447"/>
                </a:cubicBezTo>
                <a:close/>
                <a:moveTo>
                  <a:pt x="148005" y="53997"/>
                </a:moveTo>
                <a:lnTo>
                  <a:pt x="31804" y="170143"/>
                </a:lnTo>
                <a:cubicBezTo>
                  <a:pt x="26026" y="175921"/>
                  <a:pt x="21815" y="183156"/>
                  <a:pt x="19601" y="191040"/>
                </a:cubicBezTo>
                <a:lnTo>
                  <a:pt x="486" y="260048"/>
                </a:lnTo>
                <a:cubicBezTo>
                  <a:pt x="-756" y="264529"/>
                  <a:pt x="486" y="269389"/>
                  <a:pt x="3834" y="272683"/>
                </a:cubicBezTo>
                <a:cubicBezTo>
                  <a:pt x="7182" y="275977"/>
                  <a:pt x="11987" y="277273"/>
                  <a:pt x="16469" y="276031"/>
                </a:cubicBezTo>
                <a:lnTo>
                  <a:pt x="85477" y="256862"/>
                </a:lnTo>
                <a:cubicBezTo>
                  <a:pt x="93360" y="254648"/>
                  <a:pt x="100542" y="250490"/>
                  <a:pt x="106373" y="244659"/>
                </a:cubicBezTo>
                <a:lnTo>
                  <a:pt x="222466" y="128458"/>
                </a:lnTo>
                <a:lnTo>
                  <a:pt x="148005" y="53997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18" name="Text 8"/>
          <p:cNvSpPr/>
          <p:nvPr/>
        </p:nvSpPr>
        <p:spPr>
          <a:xfrm>
            <a:off x="378420" y="2155597"/>
            <a:ext cx="1861515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中文撰写</a:t>
            </a:r>
            <a:endParaRPr lang="en-US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19" name="Text 9"/>
          <p:cNvSpPr/>
          <p:nvPr/>
        </p:nvSpPr>
        <p:spPr>
          <a:xfrm>
            <a:off x="387635" y="2487353"/>
            <a:ext cx="1843084" cy="4423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先完成中文版本，保证内容完整性和逻辑性</a:t>
            </a:r>
            <a:endParaRPr lang="en-US" sz="14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3593833" y="1980505"/>
            <a:ext cx="276463" cy="276463"/>
          </a:xfrm>
          <a:custGeom>
            <a:avLst/>
            <a:gdLst/>
            <a:ahLst/>
            <a:cxnLst/>
            <a:rect l="l" t="t" r="r" b="b"/>
            <a:pathLst>
              <a:path w="276463" h="276463">
                <a:moveTo>
                  <a:pt x="271387" y="150435"/>
                </a:moveTo>
                <a:cubicBezTo>
                  <a:pt x="278136" y="143685"/>
                  <a:pt x="278136" y="132724"/>
                  <a:pt x="271387" y="125974"/>
                </a:cubicBezTo>
                <a:lnTo>
                  <a:pt x="184992" y="39580"/>
                </a:lnTo>
                <a:cubicBezTo>
                  <a:pt x="178243" y="32830"/>
                  <a:pt x="167281" y="32830"/>
                  <a:pt x="160532" y="39580"/>
                </a:cubicBezTo>
                <a:cubicBezTo>
                  <a:pt x="153782" y="46329"/>
                  <a:pt x="153782" y="57290"/>
                  <a:pt x="160532" y="64040"/>
                </a:cubicBezTo>
                <a:lnTo>
                  <a:pt x="217444" y="120952"/>
                </a:lnTo>
                <a:lnTo>
                  <a:pt x="17279" y="120952"/>
                </a:lnTo>
                <a:cubicBezTo>
                  <a:pt x="7722" y="120952"/>
                  <a:pt x="0" y="128674"/>
                  <a:pt x="0" y="138231"/>
                </a:cubicBezTo>
                <a:cubicBezTo>
                  <a:pt x="0" y="147789"/>
                  <a:pt x="7722" y="155510"/>
                  <a:pt x="17279" y="155510"/>
                </a:cubicBezTo>
                <a:lnTo>
                  <a:pt x="217444" y="155510"/>
                </a:lnTo>
                <a:lnTo>
                  <a:pt x="160532" y="212423"/>
                </a:lnTo>
                <a:cubicBezTo>
                  <a:pt x="153782" y="219172"/>
                  <a:pt x="153782" y="230134"/>
                  <a:pt x="160532" y="236883"/>
                </a:cubicBezTo>
                <a:cubicBezTo>
                  <a:pt x="167281" y="243633"/>
                  <a:pt x="178243" y="243633"/>
                  <a:pt x="184992" y="236883"/>
                </a:cubicBezTo>
                <a:lnTo>
                  <a:pt x="271387" y="150489"/>
                </a:lnTo>
                <a:close/>
              </a:path>
            </a:pathLst>
          </a:custGeom>
          <a:solidFill>
            <a:srgbClr val="8696A7"/>
          </a:solidFill>
        </p:spPr>
      </p:sp>
      <p:sp>
        <p:nvSpPr>
          <p:cNvPr id="21" name="Shape 11"/>
          <p:cNvSpPr/>
          <p:nvPr/>
        </p:nvSpPr>
        <p:spPr>
          <a:xfrm>
            <a:off x="5781728" y="1307779"/>
            <a:ext cx="737234" cy="737234"/>
          </a:xfrm>
          <a:custGeom>
            <a:avLst/>
            <a:gdLst/>
            <a:ahLst/>
            <a:cxnLst/>
            <a:rect l="l" t="t" r="r" b="b"/>
            <a:pathLst>
              <a:path w="737234" h="737234">
                <a:moveTo>
                  <a:pt x="147447" y="0"/>
                </a:moveTo>
                <a:lnTo>
                  <a:pt x="589787" y="0"/>
                </a:lnTo>
                <a:cubicBezTo>
                  <a:pt x="671219" y="0"/>
                  <a:pt x="737234" y="66014"/>
                  <a:pt x="737234" y="147447"/>
                </a:cubicBezTo>
                <a:lnTo>
                  <a:pt x="737234" y="589787"/>
                </a:lnTo>
                <a:cubicBezTo>
                  <a:pt x="737234" y="671219"/>
                  <a:pt x="671219" y="737234"/>
                  <a:pt x="589787" y="737234"/>
                </a:cubicBezTo>
                <a:lnTo>
                  <a:pt x="147447" y="737234"/>
                </a:lnTo>
                <a:cubicBezTo>
                  <a:pt x="66014" y="737234"/>
                  <a:pt x="0" y="671219"/>
                  <a:pt x="0" y="589787"/>
                </a:cubicBezTo>
                <a:lnTo>
                  <a:pt x="0" y="147447"/>
                </a:lnTo>
                <a:cubicBezTo>
                  <a:pt x="0" y="66069"/>
                  <a:pt x="66069" y="0"/>
                  <a:pt x="147447" y="0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22" name="Shape 12"/>
          <p:cNvSpPr/>
          <p:nvPr/>
        </p:nvSpPr>
        <p:spPr>
          <a:xfrm>
            <a:off x="5979859" y="1538164"/>
            <a:ext cx="345578" cy="276463"/>
          </a:xfrm>
          <a:custGeom>
            <a:avLst/>
            <a:gdLst/>
            <a:ahLst/>
            <a:cxnLst/>
            <a:rect l="l" t="t" r="r" b="b"/>
            <a:pathLst>
              <a:path w="345578" h="276463">
                <a:moveTo>
                  <a:pt x="172789" y="8639"/>
                </a:moveTo>
                <a:cubicBezTo>
                  <a:pt x="203783" y="8639"/>
                  <a:pt x="228946" y="33802"/>
                  <a:pt x="228946" y="64796"/>
                </a:cubicBezTo>
                <a:cubicBezTo>
                  <a:pt x="228946" y="95790"/>
                  <a:pt x="203783" y="120952"/>
                  <a:pt x="172789" y="120952"/>
                </a:cubicBezTo>
                <a:cubicBezTo>
                  <a:pt x="141796" y="120952"/>
                  <a:pt x="116633" y="95790"/>
                  <a:pt x="116633" y="64796"/>
                </a:cubicBezTo>
                <a:cubicBezTo>
                  <a:pt x="116633" y="33802"/>
                  <a:pt x="141796" y="8639"/>
                  <a:pt x="172789" y="8639"/>
                </a:cubicBezTo>
                <a:close/>
                <a:moveTo>
                  <a:pt x="51837" y="47517"/>
                </a:moveTo>
                <a:cubicBezTo>
                  <a:pt x="73294" y="47517"/>
                  <a:pt x="90714" y="64937"/>
                  <a:pt x="90714" y="86395"/>
                </a:cubicBezTo>
                <a:cubicBezTo>
                  <a:pt x="90714" y="107852"/>
                  <a:pt x="73294" y="125272"/>
                  <a:pt x="51837" y="125272"/>
                </a:cubicBezTo>
                <a:cubicBezTo>
                  <a:pt x="30380" y="125272"/>
                  <a:pt x="12959" y="107852"/>
                  <a:pt x="12959" y="86395"/>
                </a:cubicBezTo>
                <a:cubicBezTo>
                  <a:pt x="12959" y="64937"/>
                  <a:pt x="30380" y="47517"/>
                  <a:pt x="51837" y="47517"/>
                </a:cubicBezTo>
                <a:close/>
                <a:moveTo>
                  <a:pt x="0" y="224626"/>
                </a:moveTo>
                <a:cubicBezTo>
                  <a:pt x="0" y="186450"/>
                  <a:pt x="30940" y="155510"/>
                  <a:pt x="69116" y="155510"/>
                </a:cubicBezTo>
                <a:cubicBezTo>
                  <a:pt x="76027" y="155510"/>
                  <a:pt x="82723" y="156536"/>
                  <a:pt x="89040" y="158426"/>
                </a:cubicBezTo>
                <a:cubicBezTo>
                  <a:pt x="71276" y="178297"/>
                  <a:pt x="60476" y="204539"/>
                  <a:pt x="60476" y="233265"/>
                </a:cubicBezTo>
                <a:lnTo>
                  <a:pt x="60476" y="241905"/>
                </a:lnTo>
                <a:cubicBezTo>
                  <a:pt x="60476" y="248060"/>
                  <a:pt x="61772" y="253892"/>
                  <a:pt x="64094" y="259184"/>
                </a:cubicBezTo>
                <a:lnTo>
                  <a:pt x="17279" y="259184"/>
                </a:lnTo>
                <a:cubicBezTo>
                  <a:pt x="7722" y="259184"/>
                  <a:pt x="0" y="251462"/>
                  <a:pt x="0" y="241905"/>
                </a:cubicBezTo>
                <a:lnTo>
                  <a:pt x="0" y="224626"/>
                </a:lnTo>
                <a:close/>
                <a:moveTo>
                  <a:pt x="281484" y="259184"/>
                </a:moveTo>
                <a:cubicBezTo>
                  <a:pt x="283806" y="253892"/>
                  <a:pt x="285102" y="248060"/>
                  <a:pt x="285102" y="241905"/>
                </a:cubicBezTo>
                <a:lnTo>
                  <a:pt x="285102" y="233265"/>
                </a:lnTo>
                <a:cubicBezTo>
                  <a:pt x="285102" y="204539"/>
                  <a:pt x="274303" y="178297"/>
                  <a:pt x="256538" y="158426"/>
                </a:cubicBezTo>
                <a:cubicBezTo>
                  <a:pt x="262855" y="156536"/>
                  <a:pt x="269551" y="155510"/>
                  <a:pt x="276463" y="155510"/>
                </a:cubicBezTo>
                <a:cubicBezTo>
                  <a:pt x="314638" y="155510"/>
                  <a:pt x="345578" y="186450"/>
                  <a:pt x="345578" y="224626"/>
                </a:cubicBezTo>
                <a:lnTo>
                  <a:pt x="345578" y="241905"/>
                </a:lnTo>
                <a:cubicBezTo>
                  <a:pt x="345578" y="251462"/>
                  <a:pt x="337857" y="259184"/>
                  <a:pt x="328299" y="259184"/>
                </a:cubicBezTo>
                <a:lnTo>
                  <a:pt x="281484" y="259184"/>
                </a:lnTo>
                <a:close/>
                <a:moveTo>
                  <a:pt x="254864" y="86395"/>
                </a:moveTo>
                <a:cubicBezTo>
                  <a:pt x="254864" y="64937"/>
                  <a:pt x="272284" y="47517"/>
                  <a:pt x="293741" y="47517"/>
                </a:cubicBezTo>
                <a:cubicBezTo>
                  <a:pt x="315199" y="47517"/>
                  <a:pt x="332619" y="64937"/>
                  <a:pt x="332619" y="86395"/>
                </a:cubicBezTo>
                <a:cubicBezTo>
                  <a:pt x="332619" y="107852"/>
                  <a:pt x="315199" y="125272"/>
                  <a:pt x="293741" y="125272"/>
                </a:cubicBezTo>
                <a:cubicBezTo>
                  <a:pt x="272284" y="125272"/>
                  <a:pt x="254864" y="107852"/>
                  <a:pt x="254864" y="86395"/>
                </a:cubicBezTo>
                <a:close/>
                <a:moveTo>
                  <a:pt x="86395" y="233265"/>
                </a:moveTo>
                <a:cubicBezTo>
                  <a:pt x="86395" y="185532"/>
                  <a:pt x="125056" y="146871"/>
                  <a:pt x="172789" y="146871"/>
                </a:cubicBezTo>
                <a:cubicBezTo>
                  <a:pt x="220522" y="146871"/>
                  <a:pt x="259184" y="185532"/>
                  <a:pt x="259184" y="233265"/>
                </a:cubicBezTo>
                <a:lnTo>
                  <a:pt x="259184" y="241905"/>
                </a:lnTo>
                <a:cubicBezTo>
                  <a:pt x="259184" y="251462"/>
                  <a:pt x="251462" y="259184"/>
                  <a:pt x="241905" y="259184"/>
                </a:cubicBezTo>
                <a:lnTo>
                  <a:pt x="103673" y="259184"/>
                </a:lnTo>
                <a:cubicBezTo>
                  <a:pt x="94116" y="259184"/>
                  <a:pt x="86395" y="251462"/>
                  <a:pt x="86395" y="241905"/>
                </a:cubicBezTo>
                <a:lnTo>
                  <a:pt x="86395" y="233265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23" name="Text 13"/>
          <p:cNvSpPr/>
          <p:nvPr/>
        </p:nvSpPr>
        <p:spPr>
          <a:xfrm>
            <a:off x="5219587" y="2155597"/>
            <a:ext cx="1861515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三人分工</a:t>
            </a:r>
            <a:endParaRPr lang="en-US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5228803" y="2487353"/>
            <a:ext cx="1843084" cy="4423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每人负责一部分，使用翻译软件辅助</a:t>
            </a:r>
            <a:endParaRPr lang="en-US" sz="14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8435000" y="1980505"/>
            <a:ext cx="276463" cy="276463"/>
          </a:xfrm>
          <a:custGeom>
            <a:avLst/>
            <a:gdLst/>
            <a:ahLst/>
            <a:cxnLst/>
            <a:rect l="l" t="t" r="r" b="b"/>
            <a:pathLst>
              <a:path w="276463" h="276463">
                <a:moveTo>
                  <a:pt x="271387" y="150435"/>
                </a:moveTo>
                <a:cubicBezTo>
                  <a:pt x="278136" y="143685"/>
                  <a:pt x="278136" y="132724"/>
                  <a:pt x="271387" y="125974"/>
                </a:cubicBezTo>
                <a:lnTo>
                  <a:pt x="184992" y="39580"/>
                </a:lnTo>
                <a:cubicBezTo>
                  <a:pt x="178243" y="32830"/>
                  <a:pt x="167281" y="32830"/>
                  <a:pt x="160532" y="39580"/>
                </a:cubicBezTo>
                <a:cubicBezTo>
                  <a:pt x="153782" y="46329"/>
                  <a:pt x="153782" y="57290"/>
                  <a:pt x="160532" y="64040"/>
                </a:cubicBezTo>
                <a:lnTo>
                  <a:pt x="217444" y="120952"/>
                </a:lnTo>
                <a:lnTo>
                  <a:pt x="17279" y="120952"/>
                </a:lnTo>
                <a:cubicBezTo>
                  <a:pt x="7722" y="120952"/>
                  <a:pt x="0" y="128674"/>
                  <a:pt x="0" y="138231"/>
                </a:cubicBezTo>
                <a:cubicBezTo>
                  <a:pt x="0" y="147789"/>
                  <a:pt x="7722" y="155510"/>
                  <a:pt x="17279" y="155510"/>
                </a:cubicBezTo>
                <a:lnTo>
                  <a:pt x="217444" y="155510"/>
                </a:lnTo>
                <a:lnTo>
                  <a:pt x="160532" y="212423"/>
                </a:lnTo>
                <a:cubicBezTo>
                  <a:pt x="153782" y="219172"/>
                  <a:pt x="153782" y="230134"/>
                  <a:pt x="160532" y="236883"/>
                </a:cubicBezTo>
                <a:cubicBezTo>
                  <a:pt x="167281" y="243633"/>
                  <a:pt x="178243" y="243633"/>
                  <a:pt x="184992" y="236883"/>
                </a:cubicBezTo>
                <a:lnTo>
                  <a:pt x="271387" y="150489"/>
                </a:lnTo>
                <a:close/>
              </a:path>
            </a:pathLst>
          </a:custGeom>
          <a:solidFill>
            <a:srgbClr val="8696A7"/>
          </a:solidFill>
        </p:spPr>
      </p:sp>
      <p:sp>
        <p:nvSpPr>
          <p:cNvPr id="26" name="Shape 16"/>
          <p:cNvSpPr/>
          <p:nvPr/>
        </p:nvSpPr>
        <p:spPr>
          <a:xfrm>
            <a:off x="10622895" y="1307779"/>
            <a:ext cx="737234" cy="737234"/>
          </a:xfrm>
          <a:custGeom>
            <a:avLst/>
            <a:gdLst/>
            <a:ahLst/>
            <a:cxnLst/>
            <a:rect l="l" t="t" r="r" b="b"/>
            <a:pathLst>
              <a:path w="737234" h="737234">
                <a:moveTo>
                  <a:pt x="147447" y="0"/>
                </a:moveTo>
                <a:lnTo>
                  <a:pt x="589787" y="0"/>
                </a:lnTo>
                <a:cubicBezTo>
                  <a:pt x="671219" y="0"/>
                  <a:pt x="737234" y="66014"/>
                  <a:pt x="737234" y="147447"/>
                </a:cubicBezTo>
                <a:lnTo>
                  <a:pt x="737234" y="589787"/>
                </a:lnTo>
                <a:cubicBezTo>
                  <a:pt x="737234" y="671219"/>
                  <a:pt x="671219" y="737234"/>
                  <a:pt x="589787" y="737234"/>
                </a:cubicBezTo>
                <a:lnTo>
                  <a:pt x="147447" y="737234"/>
                </a:lnTo>
                <a:cubicBezTo>
                  <a:pt x="66014" y="737234"/>
                  <a:pt x="0" y="671219"/>
                  <a:pt x="0" y="589787"/>
                </a:cubicBezTo>
                <a:lnTo>
                  <a:pt x="0" y="147447"/>
                </a:lnTo>
                <a:cubicBezTo>
                  <a:pt x="0" y="66069"/>
                  <a:pt x="66069" y="0"/>
                  <a:pt x="147447" y="0"/>
                </a:cubicBezTo>
                <a:close/>
              </a:path>
            </a:pathLst>
          </a:custGeom>
          <a:solidFill>
            <a:srgbClr val="8696A7"/>
          </a:solidFill>
        </p:spPr>
      </p:sp>
      <p:sp>
        <p:nvSpPr>
          <p:cNvPr id="27" name="Shape 17"/>
          <p:cNvSpPr/>
          <p:nvPr/>
        </p:nvSpPr>
        <p:spPr>
          <a:xfrm>
            <a:off x="10890142" y="1538164"/>
            <a:ext cx="207347" cy="276463"/>
          </a:xfrm>
          <a:custGeom>
            <a:avLst/>
            <a:gdLst/>
            <a:ahLst/>
            <a:cxnLst/>
            <a:rect l="l" t="t" r="r" b="b"/>
            <a:pathLst>
              <a:path w="207347" h="276463">
                <a:moveTo>
                  <a:pt x="134938" y="36070"/>
                </a:moveTo>
                <a:cubicBezTo>
                  <a:pt x="140553" y="28348"/>
                  <a:pt x="138825" y="17549"/>
                  <a:pt x="131104" y="11933"/>
                </a:cubicBezTo>
                <a:cubicBezTo>
                  <a:pt x="123382" y="6318"/>
                  <a:pt x="112583" y="8045"/>
                  <a:pt x="106967" y="15767"/>
                </a:cubicBezTo>
                <a:lnTo>
                  <a:pt x="49731" y="94440"/>
                </a:lnTo>
                <a:lnTo>
                  <a:pt x="29482" y="74191"/>
                </a:lnTo>
                <a:cubicBezTo>
                  <a:pt x="22733" y="67442"/>
                  <a:pt x="11771" y="67442"/>
                  <a:pt x="5022" y="74191"/>
                </a:cubicBezTo>
                <a:cubicBezTo>
                  <a:pt x="-1728" y="80941"/>
                  <a:pt x="-1728" y="91902"/>
                  <a:pt x="5022" y="98652"/>
                </a:cubicBezTo>
                <a:lnTo>
                  <a:pt x="39580" y="133210"/>
                </a:lnTo>
                <a:cubicBezTo>
                  <a:pt x="43143" y="136773"/>
                  <a:pt x="48111" y="138609"/>
                  <a:pt x="53133" y="138231"/>
                </a:cubicBezTo>
                <a:cubicBezTo>
                  <a:pt x="58154" y="137853"/>
                  <a:pt x="62798" y="135261"/>
                  <a:pt x="65768" y="131158"/>
                </a:cubicBezTo>
                <a:lnTo>
                  <a:pt x="134884" y="36124"/>
                </a:lnTo>
                <a:close/>
                <a:moveTo>
                  <a:pt x="204053" y="109505"/>
                </a:moveTo>
                <a:cubicBezTo>
                  <a:pt x="209669" y="101784"/>
                  <a:pt x="207941" y="90984"/>
                  <a:pt x="200219" y="85369"/>
                </a:cubicBezTo>
                <a:cubicBezTo>
                  <a:pt x="192498" y="79753"/>
                  <a:pt x="181699" y="81481"/>
                  <a:pt x="176083" y="89202"/>
                </a:cubicBezTo>
                <a:lnTo>
                  <a:pt x="84289" y="215392"/>
                </a:lnTo>
                <a:lnTo>
                  <a:pt x="46761" y="177865"/>
                </a:lnTo>
                <a:cubicBezTo>
                  <a:pt x="40011" y="171115"/>
                  <a:pt x="29050" y="171115"/>
                  <a:pt x="22301" y="177865"/>
                </a:cubicBezTo>
                <a:cubicBezTo>
                  <a:pt x="15551" y="184614"/>
                  <a:pt x="15551" y="195576"/>
                  <a:pt x="22301" y="202325"/>
                </a:cubicBezTo>
                <a:lnTo>
                  <a:pt x="74137" y="254162"/>
                </a:lnTo>
                <a:cubicBezTo>
                  <a:pt x="77701" y="257726"/>
                  <a:pt x="82669" y="259562"/>
                  <a:pt x="87690" y="259184"/>
                </a:cubicBezTo>
                <a:cubicBezTo>
                  <a:pt x="92712" y="258806"/>
                  <a:pt x="97356" y="256214"/>
                  <a:pt x="100326" y="252110"/>
                </a:cubicBezTo>
                <a:lnTo>
                  <a:pt x="203999" y="109559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28" name="Text 18"/>
          <p:cNvSpPr/>
          <p:nvPr/>
        </p:nvSpPr>
        <p:spPr>
          <a:xfrm>
            <a:off x="10060755" y="2155597"/>
            <a:ext cx="1861515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汇总检查</a:t>
            </a:r>
            <a:endParaRPr lang="en-US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29" name="Text 19"/>
          <p:cNvSpPr/>
          <p:nvPr/>
        </p:nvSpPr>
        <p:spPr>
          <a:xfrm>
            <a:off x="10069970" y="2487353"/>
            <a:ext cx="1843084" cy="4423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整合全文，检查遗漏、排版和公式</a:t>
            </a:r>
            <a:endParaRPr lang="en-US" sz="14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30" name="Shape 20"/>
          <p:cNvSpPr/>
          <p:nvPr/>
        </p:nvSpPr>
        <p:spPr>
          <a:xfrm>
            <a:off x="442928" y="3589711"/>
            <a:ext cx="36862" cy="1944454"/>
          </a:xfrm>
          <a:custGeom>
            <a:avLst/>
            <a:gdLst/>
            <a:ahLst/>
            <a:cxnLst/>
            <a:rect l="l" t="t" r="r" b="b"/>
            <a:pathLst>
              <a:path w="36862" h="1944454">
                <a:moveTo>
                  <a:pt x="0" y="0"/>
                </a:moveTo>
                <a:lnTo>
                  <a:pt x="36862" y="0"/>
                </a:lnTo>
                <a:lnTo>
                  <a:pt x="36862" y="1944454"/>
                </a:lnTo>
                <a:lnTo>
                  <a:pt x="0" y="1944454"/>
                </a:lnTo>
                <a:lnTo>
                  <a:pt x="0" y="0"/>
                </a:lnTo>
                <a:close/>
              </a:path>
            </a:pathLst>
          </a:custGeom>
          <a:solidFill>
            <a:srgbClr val="E49B5D"/>
          </a:solidFill>
        </p:spPr>
      </p:sp>
      <p:sp>
        <p:nvSpPr>
          <p:cNvPr id="31" name="Shape 21"/>
          <p:cNvSpPr/>
          <p:nvPr/>
        </p:nvSpPr>
        <p:spPr>
          <a:xfrm>
            <a:off x="737821" y="3626573"/>
            <a:ext cx="165878" cy="221170"/>
          </a:xfrm>
          <a:custGeom>
            <a:avLst/>
            <a:gdLst/>
            <a:ahLst/>
            <a:cxnLst/>
            <a:rect l="l" t="t" r="r" b="b"/>
            <a:pathLst>
              <a:path w="165878" h="221170">
                <a:moveTo>
                  <a:pt x="13823" y="13823"/>
                </a:moveTo>
                <a:cubicBezTo>
                  <a:pt x="6177" y="13823"/>
                  <a:pt x="0" y="20000"/>
                  <a:pt x="0" y="27646"/>
                </a:cubicBezTo>
                <a:cubicBezTo>
                  <a:pt x="0" y="35292"/>
                  <a:pt x="6177" y="41469"/>
                  <a:pt x="13823" y="41469"/>
                </a:cubicBezTo>
                <a:lnTo>
                  <a:pt x="27646" y="41469"/>
                </a:lnTo>
                <a:lnTo>
                  <a:pt x="27646" y="179701"/>
                </a:lnTo>
                <a:lnTo>
                  <a:pt x="13823" y="179701"/>
                </a:lnTo>
                <a:cubicBezTo>
                  <a:pt x="6177" y="179701"/>
                  <a:pt x="0" y="185878"/>
                  <a:pt x="0" y="193524"/>
                </a:cubicBezTo>
                <a:cubicBezTo>
                  <a:pt x="0" y="201170"/>
                  <a:pt x="6177" y="207347"/>
                  <a:pt x="13823" y="207347"/>
                </a:cubicBezTo>
                <a:lnTo>
                  <a:pt x="110585" y="207347"/>
                </a:lnTo>
                <a:cubicBezTo>
                  <a:pt x="141126" y="207347"/>
                  <a:pt x="165878" y="182595"/>
                  <a:pt x="165878" y="152054"/>
                </a:cubicBezTo>
                <a:cubicBezTo>
                  <a:pt x="165878" y="131968"/>
                  <a:pt x="155165" y="114343"/>
                  <a:pt x="139095" y="104667"/>
                </a:cubicBezTo>
                <a:cubicBezTo>
                  <a:pt x="147173" y="95034"/>
                  <a:pt x="152054" y="82636"/>
                  <a:pt x="152054" y="69116"/>
                </a:cubicBezTo>
                <a:cubicBezTo>
                  <a:pt x="152054" y="38575"/>
                  <a:pt x="127302" y="13823"/>
                  <a:pt x="96762" y="13823"/>
                </a:cubicBezTo>
                <a:lnTo>
                  <a:pt x="13823" y="13823"/>
                </a:lnTo>
                <a:close/>
                <a:moveTo>
                  <a:pt x="124408" y="69116"/>
                </a:moveTo>
                <a:cubicBezTo>
                  <a:pt x="124408" y="84364"/>
                  <a:pt x="112011" y="96762"/>
                  <a:pt x="96762" y="96762"/>
                </a:cubicBezTo>
                <a:lnTo>
                  <a:pt x="55293" y="96762"/>
                </a:lnTo>
                <a:lnTo>
                  <a:pt x="55293" y="41469"/>
                </a:lnTo>
                <a:lnTo>
                  <a:pt x="96762" y="41469"/>
                </a:lnTo>
                <a:cubicBezTo>
                  <a:pt x="112011" y="41469"/>
                  <a:pt x="124408" y="53867"/>
                  <a:pt x="124408" y="69116"/>
                </a:cubicBezTo>
                <a:close/>
                <a:moveTo>
                  <a:pt x="55293" y="179701"/>
                </a:moveTo>
                <a:lnTo>
                  <a:pt x="55293" y="124408"/>
                </a:lnTo>
                <a:lnTo>
                  <a:pt x="110585" y="124408"/>
                </a:lnTo>
                <a:cubicBezTo>
                  <a:pt x="125834" y="124408"/>
                  <a:pt x="138231" y="136806"/>
                  <a:pt x="138231" y="152054"/>
                </a:cubicBezTo>
                <a:cubicBezTo>
                  <a:pt x="138231" y="167303"/>
                  <a:pt x="125834" y="179701"/>
                  <a:pt x="110585" y="179701"/>
                </a:cubicBezTo>
                <a:lnTo>
                  <a:pt x="55293" y="179701"/>
                </a:lnTo>
                <a:close/>
              </a:path>
            </a:pathLst>
          </a:custGeom>
          <a:solidFill>
            <a:srgbClr val="E49B5D"/>
          </a:solidFill>
        </p:spPr>
      </p:sp>
      <p:sp>
        <p:nvSpPr>
          <p:cNvPr id="32" name="Text 22"/>
          <p:cNvSpPr/>
          <p:nvPr/>
        </p:nvSpPr>
        <p:spPr>
          <a:xfrm>
            <a:off x="1069340" y="3589655"/>
            <a:ext cx="2524760" cy="294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重点内容加粗</a:t>
            </a:r>
            <a:endParaRPr lang="en-US" sz="20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33" name="Text 23"/>
          <p:cNvSpPr/>
          <p:nvPr/>
        </p:nvSpPr>
        <p:spPr>
          <a:xfrm>
            <a:off x="682529" y="4032051"/>
            <a:ext cx="5400236" cy="54371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4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为了让评委快速抓住论文核心，我们将关键信息进行加粗处理，提升论文的可读性和重点突出度。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34" name="Shape 24"/>
          <p:cNvSpPr/>
          <p:nvPr/>
        </p:nvSpPr>
        <p:spPr>
          <a:xfrm>
            <a:off x="700959" y="4755462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73723" y="147447"/>
                </a:moveTo>
                <a:cubicBezTo>
                  <a:pt x="114412" y="147447"/>
                  <a:pt x="147447" y="114412"/>
                  <a:pt x="147447" y="73723"/>
                </a:cubicBezTo>
                <a:cubicBezTo>
                  <a:pt x="147447" y="33034"/>
                  <a:pt x="114412" y="0"/>
                  <a:pt x="73723" y="0"/>
                </a:cubicBezTo>
                <a:cubicBezTo>
                  <a:pt x="33034" y="0"/>
                  <a:pt x="0" y="33034"/>
                  <a:pt x="0" y="73723"/>
                </a:cubicBezTo>
                <a:cubicBezTo>
                  <a:pt x="0" y="114412"/>
                  <a:pt x="33034" y="147447"/>
                  <a:pt x="73723" y="147447"/>
                </a:cubicBezTo>
                <a:close/>
                <a:moveTo>
                  <a:pt x="98029" y="61254"/>
                </a:moveTo>
                <a:lnTo>
                  <a:pt x="74990" y="98115"/>
                </a:lnTo>
                <a:cubicBezTo>
                  <a:pt x="73781" y="100045"/>
                  <a:pt x="71707" y="101254"/>
                  <a:pt x="69432" y="101370"/>
                </a:cubicBezTo>
                <a:cubicBezTo>
                  <a:pt x="67157" y="101485"/>
                  <a:pt x="64969" y="100448"/>
                  <a:pt x="63615" y="98605"/>
                </a:cubicBezTo>
                <a:lnTo>
                  <a:pt x="49792" y="80174"/>
                </a:lnTo>
                <a:cubicBezTo>
                  <a:pt x="47488" y="77122"/>
                  <a:pt x="48122" y="72802"/>
                  <a:pt x="51174" y="70498"/>
                </a:cubicBezTo>
                <a:cubicBezTo>
                  <a:pt x="54227" y="68194"/>
                  <a:pt x="58547" y="68828"/>
                  <a:pt x="60851" y="71880"/>
                </a:cubicBezTo>
                <a:lnTo>
                  <a:pt x="68626" y="82248"/>
                </a:lnTo>
                <a:lnTo>
                  <a:pt x="86308" y="53939"/>
                </a:lnTo>
                <a:cubicBezTo>
                  <a:pt x="88324" y="50714"/>
                  <a:pt x="92586" y="49706"/>
                  <a:pt x="95840" y="51750"/>
                </a:cubicBezTo>
                <a:cubicBezTo>
                  <a:pt x="99095" y="53795"/>
                  <a:pt x="100074" y="58028"/>
                  <a:pt x="98029" y="61283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35" name="Text 25"/>
          <p:cNvSpPr/>
          <p:nvPr/>
        </p:nvSpPr>
        <p:spPr>
          <a:xfrm>
            <a:off x="940435" y="4633595"/>
            <a:ext cx="2192020" cy="30607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数学模型</a:t>
            </a:r>
            <a:r>
              <a:rPr lang="en-US" sz="14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名称</a:t>
            </a:r>
            <a:endParaRPr lang="en-US" sz="14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700959" y="5050355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73723" y="147447"/>
                </a:moveTo>
                <a:cubicBezTo>
                  <a:pt x="114412" y="147447"/>
                  <a:pt x="147447" y="114412"/>
                  <a:pt x="147447" y="73723"/>
                </a:cubicBezTo>
                <a:cubicBezTo>
                  <a:pt x="147447" y="33034"/>
                  <a:pt x="114412" y="0"/>
                  <a:pt x="73723" y="0"/>
                </a:cubicBezTo>
                <a:cubicBezTo>
                  <a:pt x="33034" y="0"/>
                  <a:pt x="0" y="33034"/>
                  <a:pt x="0" y="73723"/>
                </a:cubicBezTo>
                <a:cubicBezTo>
                  <a:pt x="0" y="114412"/>
                  <a:pt x="33034" y="147447"/>
                  <a:pt x="73723" y="147447"/>
                </a:cubicBezTo>
                <a:close/>
                <a:moveTo>
                  <a:pt x="98029" y="61254"/>
                </a:moveTo>
                <a:lnTo>
                  <a:pt x="74990" y="98115"/>
                </a:lnTo>
                <a:cubicBezTo>
                  <a:pt x="73781" y="100045"/>
                  <a:pt x="71707" y="101254"/>
                  <a:pt x="69432" y="101370"/>
                </a:cubicBezTo>
                <a:cubicBezTo>
                  <a:pt x="67157" y="101485"/>
                  <a:pt x="64969" y="100448"/>
                  <a:pt x="63615" y="98605"/>
                </a:cubicBezTo>
                <a:lnTo>
                  <a:pt x="49792" y="80174"/>
                </a:lnTo>
                <a:cubicBezTo>
                  <a:pt x="47488" y="77122"/>
                  <a:pt x="48122" y="72802"/>
                  <a:pt x="51174" y="70498"/>
                </a:cubicBezTo>
                <a:cubicBezTo>
                  <a:pt x="54227" y="68194"/>
                  <a:pt x="58547" y="68828"/>
                  <a:pt x="60851" y="71880"/>
                </a:cubicBezTo>
                <a:lnTo>
                  <a:pt x="68626" y="82248"/>
                </a:lnTo>
                <a:lnTo>
                  <a:pt x="86308" y="53939"/>
                </a:lnTo>
                <a:cubicBezTo>
                  <a:pt x="88324" y="50714"/>
                  <a:pt x="92586" y="49706"/>
                  <a:pt x="95840" y="51750"/>
                </a:cubicBezTo>
                <a:cubicBezTo>
                  <a:pt x="99095" y="53795"/>
                  <a:pt x="100074" y="58028"/>
                  <a:pt x="98029" y="61283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37" name="Text 27"/>
          <p:cNvSpPr/>
          <p:nvPr/>
        </p:nvSpPr>
        <p:spPr>
          <a:xfrm>
            <a:off x="940435" y="5013325"/>
            <a:ext cx="225361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训练集和测试集</a:t>
            </a:r>
            <a:r>
              <a:rPr lang="en-US" sz="14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比例</a:t>
            </a:r>
            <a:endParaRPr lang="en-US" sz="14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700959" y="5345249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73723" y="147447"/>
                </a:moveTo>
                <a:cubicBezTo>
                  <a:pt x="114412" y="147447"/>
                  <a:pt x="147447" y="114412"/>
                  <a:pt x="147447" y="73723"/>
                </a:cubicBezTo>
                <a:cubicBezTo>
                  <a:pt x="147447" y="33034"/>
                  <a:pt x="114412" y="0"/>
                  <a:pt x="73723" y="0"/>
                </a:cubicBezTo>
                <a:cubicBezTo>
                  <a:pt x="33034" y="0"/>
                  <a:pt x="0" y="33034"/>
                  <a:pt x="0" y="73723"/>
                </a:cubicBezTo>
                <a:cubicBezTo>
                  <a:pt x="0" y="114412"/>
                  <a:pt x="33034" y="147447"/>
                  <a:pt x="73723" y="147447"/>
                </a:cubicBezTo>
                <a:close/>
                <a:moveTo>
                  <a:pt x="98029" y="61254"/>
                </a:moveTo>
                <a:lnTo>
                  <a:pt x="74990" y="98115"/>
                </a:lnTo>
                <a:cubicBezTo>
                  <a:pt x="73781" y="100045"/>
                  <a:pt x="71707" y="101254"/>
                  <a:pt x="69432" y="101370"/>
                </a:cubicBezTo>
                <a:cubicBezTo>
                  <a:pt x="67157" y="101485"/>
                  <a:pt x="64969" y="100448"/>
                  <a:pt x="63615" y="98605"/>
                </a:cubicBezTo>
                <a:lnTo>
                  <a:pt x="49792" y="80174"/>
                </a:lnTo>
                <a:cubicBezTo>
                  <a:pt x="47488" y="77122"/>
                  <a:pt x="48122" y="72802"/>
                  <a:pt x="51174" y="70498"/>
                </a:cubicBezTo>
                <a:cubicBezTo>
                  <a:pt x="54227" y="68194"/>
                  <a:pt x="58547" y="68828"/>
                  <a:pt x="60851" y="71880"/>
                </a:cubicBezTo>
                <a:lnTo>
                  <a:pt x="68626" y="82248"/>
                </a:lnTo>
                <a:lnTo>
                  <a:pt x="86308" y="53939"/>
                </a:lnTo>
                <a:cubicBezTo>
                  <a:pt x="88324" y="50714"/>
                  <a:pt x="92586" y="49706"/>
                  <a:pt x="95840" y="51750"/>
                </a:cubicBezTo>
                <a:cubicBezTo>
                  <a:pt x="99095" y="53795"/>
                  <a:pt x="100074" y="58028"/>
                  <a:pt x="98029" y="61283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39" name="Text 29"/>
          <p:cNvSpPr/>
          <p:nvPr/>
        </p:nvSpPr>
        <p:spPr>
          <a:xfrm>
            <a:off x="940435" y="5345430"/>
            <a:ext cx="1965960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相关系数和误差</a:t>
            </a:r>
            <a:r>
              <a:rPr lang="en-US" sz="14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指标</a:t>
            </a:r>
            <a:endParaRPr lang="en-US" sz="14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40" name="Shape 30"/>
          <p:cNvSpPr/>
          <p:nvPr/>
        </p:nvSpPr>
        <p:spPr>
          <a:xfrm>
            <a:off x="6316222" y="3589711"/>
            <a:ext cx="36862" cy="1944454"/>
          </a:xfrm>
          <a:custGeom>
            <a:avLst/>
            <a:gdLst/>
            <a:ahLst/>
            <a:cxnLst/>
            <a:rect l="l" t="t" r="r" b="b"/>
            <a:pathLst>
              <a:path w="36862" h="1944454">
                <a:moveTo>
                  <a:pt x="0" y="0"/>
                </a:moveTo>
                <a:lnTo>
                  <a:pt x="36862" y="0"/>
                </a:lnTo>
                <a:lnTo>
                  <a:pt x="36862" y="1944454"/>
                </a:lnTo>
                <a:lnTo>
                  <a:pt x="0" y="1944454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41" name="Shape 31"/>
          <p:cNvSpPr/>
          <p:nvPr/>
        </p:nvSpPr>
        <p:spPr>
          <a:xfrm>
            <a:off x="6583469" y="3626573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179701" y="89850"/>
                </a:moveTo>
                <a:cubicBezTo>
                  <a:pt x="179701" y="109678"/>
                  <a:pt x="173264" y="127994"/>
                  <a:pt x="162422" y="142853"/>
                </a:cubicBezTo>
                <a:lnTo>
                  <a:pt x="217110" y="197584"/>
                </a:lnTo>
                <a:cubicBezTo>
                  <a:pt x="222509" y="202984"/>
                  <a:pt x="222509" y="211753"/>
                  <a:pt x="217110" y="217153"/>
                </a:cubicBezTo>
                <a:cubicBezTo>
                  <a:pt x="211710" y="222552"/>
                  <a:pt x="202941" y="222552"/>
                  <a:pt x="197541" y="217153"/>
                </a:cubicBezTo>
                <a:lnTo>
                  <a:pt x="142853" y="162422"/>
                </a:lnTo>
                <a:cubicBezTo>
                  <a:pt x="127994" y="173264"/>
                  <a:pt x="109678" y="179701"/>
                  <a:pt x="89850" y="179701"/>
                </a:cubicBezTo>
                <a:cubicBezTo>
                  <a:pt x="40217" y="179701"/>
                  <a:pt x="0" y="139484"/>
                  <a:pt x="0" y="89850"/>
                </a:cubicBezTo>
                <a:cubicBezTo>
                  <a:pt x="0" y="40217"/>
                  <a:pt x="40217" y="0"/>
                  <a:pt x="89850" y="0"/>
                </a:cubicBezTo>
                <a:cubicBezTo>
                  <a:pt x="139484" y="0"/>
                  <a:pt x="179701" y="40217"/>
                  <a:pt x="179701" y="89850"/>
                </a:cubicBezTo>
                <a:close/>
                <a:moveTo>
                  <a:pt x="89850" y="152054"/>
                </a:moveTo>
                <a:cubicBezTo>
                  <a:pt x="124182" y="152054"/>
                  <a:pt x="152054" y="124182"/>
                  <a:pt x="152054" y="89850"/>
                </a:cubicBezTo>
                <a:cubicBezTo>
                  <a:pt x="152054" y="55519"/>
                  <a:pt x="124182" y="27646"/>
                  <a:pt x="89850" y="27646"/>
                </a:cubicBezTo>
                <a:cubicBezTo>
                  <a:pt x="55519" y="27646"/>
                  <a:pt x="27646" y="55519"/>
                  <a:pt x="27646" y="89850"/>
                </a:cubicBezTo>
                <a:cubicBezTo>
                  <a:pt x="27646" y="124182"/>
                  <a:pt x="55519" y="152054"/>
                  <a:pt x="89850" y="152054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42" name="Text 32"/>
          <p:cNvSpPr/>
          <p:nvPr/>
        </p:nvSpPr>
        <p:spPr>
          <a:xfrm>
            <a:off x="6943090" y="3589655"/>
            <a:ext cx="1900555" cy="294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检查要点</a:t>
            </a:r>
            <a:endParaRPr lang="en-US" sz="20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43" name="Text 33"/>
          <p:cNvSpPr/>
          <p:nvPr/>
        </p:nvSpPr>
        <p:spPr>
          <a:xfrm>
            <a:off x="6555823" y="4032051"/>
            <a:ext cx="5400236" cy="267247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4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汇总后需要仔细检查以下内容，确保论文质量：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44" name="Shape 34"/>
          <p:cNvSpPr/>
          <p:nvPr/>
        </p:nvSpPr>
        <p:spPr>
          <a:xfrm>
            <a:off x="6574254" y="4485911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73723" y="147447"/>
                </a:moveTo>
                <a:cubicBezTo>
                  <a:pt x="114412" y="147447"/>
                  <a:pt x="147447" y="114412"/>
                  <a:pt x="147447" y="73723"/>
                </a:cubicBezTo>
                <a:cubicBezTo>
                  <a:pt x="147447" y="33034"/>
                  <a:pt x="114412" y="0"/>
                  <a:pt x="73723" y="0"/>
                </a:cubicBezTo>
                <a:cubicBezTo>
                  <a:pt x="33034" y="0"/>
                  <a:pt x="0" y="33034"/>
                  <a:pt x="0" y="73723"/>
                </a:cubicBezTo>
                <a:cubicBezTo>
                  <a:pt x="0" y="114412"/>
                  <a:pt x="33034" y="147447"/>
                  <a:pt x="73723" y="147447"/>
                </a:cubicBezTo>
                <a:close/>
                <a:moveTo>
                  <a:pt x="98029" y="61254"/>
                </a:moveTo>
                <a:lnTo>
                  <a:pt x="74990" y="98115"/>
                </a:lnTo>
                <a:cubicBezTo>
                  <a:pt x="73781" y="100045"/>
                  <a:pt x="71707" y="101254"/>
                  <a:pt x="69432" y="101370"/>
                </a:cubicBezTo>
                <a:cubicBezTo>
                  <a:pt x="67157" y="101485"/>
                  <a:pt x="64969" y="100448"/>
                  <a:pt x="63615" y="98605"/>
                </a:cubicBezTo>
                <a:lnTo>
                  <a:pt x="49792" y="80174"/>
                </a:lnTo>
                <a:cubicBezTo>
                  <a:pt x="47488" y="77122"/>
                  <a:pt x="48122" y="72802"/>
                  <a:pt x="51174" y="70498"/>
                </a:cubicBezTo>
                <a:cubicBezTo>
                  <a:pt x="54227" y="68194"/>
                  <a:pt x="58547" y="68828"/>
                  <a:pt x="60851" y="71880"/>
                </a:cubicBezTo>
                <a:lnTo>
                  <a:pt x="68626" y="82248"/>
                </a:lnTo>
                <a:lnTo>
                  <a:pt x="86308" y="53939"/>
                </a:lnTo>
                <a:cubicBezTo>
                  <a:pt x="88324" y="50714"/>
                  <a:pt x="92586" y="49706"/>
                  <a:pt x="95840" y="51750"/>
                </a:cubicBezTo>
                <a:cubicBezTo>
                  <a:pt x="99095" y="53795"/>
                  <a:pt x="100074" y="58028"/>
                  <a:pt x="98029" y="61283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45" name="Text 35"/>
          <p:cNvSpPr/>
          <p:nvPr/>
        </p:nvSpPr>
        <p:spPr>
          <a:xfrm>
            <a:off x="6813550" y="4413250"/>
            <a:ext cx="1819275" cy="2565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排版不合适的地方</a:t>
            </a:r>
            <a:endParaRPr lang="en-US" sz="14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46" name="Shape 36"/>
          <p:cNvSpPr/>
          <p:nvPr/>
        </p:nvSpPr>
        <p:spPr>
          <a:xfrm>
            <a:off x="6574254" y="4780804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73723" y="147447"/>
                </a:moveTo>
                <a:cubicBezTo>
                  <a:pt x="114412" y="147447"/>
                  <a:pt x="147447" y="114412"/>
                  <a:pt x="147447" y="73723"/>
                </a:cubicBezTo>
                <a:cubicBezTo>
                  <a:pt x="147447" y="33034"/>
                  <a:pt x="114412" y="0"/>
                  <a:pt x="73723" y="0"/>
                </a:cubicBezTo>
                <a:cubicBezTo>
                  <a:pt x="33034" y="0"/>
                  <a:pt x="0" y="33034"/>
                  <a:pt x="0" y="73723"/>
                </a:cubicBezTo>
                <a:cubicBezTo>
                  <a:pt x="0" y="114412"/>
                  <a:pt x="33034" y="147447"/>
                  <a:pt x="73723" y="147447"/>
                </a:cubicBezTo>
                <a:close/>
                <a:moveTo>
                  <a:pt x="98029" y="61254"/>
                </a:moveTo>
                <a:lnTo>
                  <a:pt x="74990" y="98115"/>
                </a:lnTo>
                <a:cubicBezTo>
                  <a:pt x="73781" y="100045"/>
                  <a:pt x="71707" y="101254"/>
                  <a:pt x="69432" y="101370"/>
                </a:cubicBezTo>
                <a:cubicBezTo>
                  <a:pt x="67157" y="101485"/>
                  <a:pt x="64969" y="100448"/>
                  <a:pt x="63615" y="98605"/>
                </a:cubicBezTo>
                <a:lnTo>
                  <a:pt x="49792" y="80174"/>
                </a:lnTo>
                <a:cubicBezTo>
                  <a:pt x="47488" y="77122"/>
                  <a:pt x="48122" y="72802"/>
                  <a:pt x="51174" y="70498"/>
                </a:cubicBezTo>
                <a:cubicBezTo>
                  <a:pt x="54227" y="68194"/>
                  <a:pt x="58547" y="68828"/>
                  <a:pt x="60851" y="71880"/>
                </a:cubicBezTo>
                <a:lnTo>
                  <a:pt x="68626" y="82248"/>
                </a:lnTo>
                <a:lnTo>
                  <a:pt x="86308" y="53939"/>
                </a:lnTo>
                <a:cubicBezTo>
                  <a:pt x="88324" y="50714"/>
                  <a:pt x="92586" y="49706"/>
                  <a:pt x="95840" y="51750"/>
                </a:cubicBezTo>
                <a:cubicBezTo>
                  <a:pt x="99095" y="53795"/>
                  <a:pt x="100074" y="58028"/>
                  <a:pt x="98029" y="61283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47" name="Text 37"/>
          <p:cNvSpPr/>
          <p:nvPr/>
        </p:nvSpPr>
        <p:spPr>
          <a:xfrm>
            <a:off x="6813550" y="4744085"/>
            <a:ext cx="2127250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数学公式和单位是否正确</a:t>
            </a:r>
            <a:endParaRPr lang="en-US" sz="14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48" name="Shape 38"/>
          <p:cNvSpPr/>
          <p:nvPr/>
        </p:nvSpPr>
        <p:spPr>
          <a:xfrm>
            <a:off x="6574254" y="5075698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73723" y="147447"/>
                </a:moveTo>
                <a:cubicBezTo>
                  <a:pt x="114412" y="147447"/>
                  <a:pt x="147447" y="114412"/>
                  <a:pt x="147447" y="73723"/>
                </a:cubicBezTo>
                <a:cubicBezTo>
                  <a:pt x="147447" y="33034"/>
                  <a:pt x="114412" y="0"/>
                  <a:pt x="73723" y="0"/>
                </a:cubicBezTo>
                <a:cubicBezTo>
                  <a:pt x="33034" y="0"/>
                  <a:pt x="0" y="33034"/>
                  <a:pt x="0" y="73723"/>
                </a:cubicBezTo>
                <a:cubicBezTo>
                  <a:pt x="0" y="114412"/>
                  <a:pt x="33034" y="147447"/>
                  <a:pt x="73723" y="147447"/>
                </a:cubicBezTo>
                <a:close/>
                <a:moveTo>
                  <a:pt x="98029" y="61254"/>
                </a:moveTo>
                <a:lnTo>
                  <a:pt x="74990" y="98115"/>
                </a:lnTo>
                <a:cubicBezTo>
                  <a:pt x="73781" y="100045"/>
                  <a:pt x="71707" y="101254"/>
                  <a:pt x="69432" y="101370"/>
                </a:cubicBezTo>
                <a:cubicBezTo>
                  <a:pt x="67157" y="101485"/>
                  <a:pt x="64969" y="100448"/>
                  <a:pt x="63615" y="98605"/>
                </a:cubicBezTo>
                <a:lnTo>
                  <a:pt x="49792" y="80174"/>
                </a:lnTo>
                <a:cubicBezTo>
                  <a:pt x="47488" y="77122"/>
                  <a:pt x="48122" y="72802"/>
                  <a:pt x="51174" y="70498"/>
                </a:cubicBezTo>
                <a:cubicBezTo>
                  <a:pt x="54227" y="68194"/>
                  <a:pt x="58547" y="68828"/>
                  <a:pt x="60851" y="71880"/>
                </a:cubicBezTo>
                <a:lnTo>
                  <a:pt x="68626" y="82248"/>
                </a:lnTo>
                <a:lnTo>
                  <a:pt x="86308" y="53939"/>
                </a:lnTo>
                <a:cubicBezTo>
                  <a:pt x="88324" y="50714"/>
                  <a:pt x="92586" y="49706"/>
                  <a:pt x="95840" y="51750"/>
                </a:cubicBezTo>
                <a:cubicBezTo>
                  <a:pt x="99095" y="53795"/>
                  <a:pt x="100074" y="58028"/>
                  <a:pt x="98029" y="61283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49" name="Text 39"/>
          <p:cNvSpPr/>
          <p:nvPr/>
        </p:nvSpPr>
        <p:spPr>
          <a:xfrm>
            <a:off x="6813550" y="5038725"/>
            <a:ext cx="203009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是否有遗漏的章节</a:t>
            </a:r>
            <a:endParaRPr lang="en-US" sz="14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50" name="Shape 40"/>
          <p:cNvSpPr/>
          <p:nvPr/>
        </p:nvSpPr>
        <p:spPr>
          <a:xfrm>
            <a:off x="424180" y="5750560"/>
            <a:ext cx="11454765" cy="652780"/>
          </a:xfrm>
          <a:custGeom>
            <a:avLst/>
            <a:gdLst/>
            <a:ahLst/>
            <a:cxnLst/>
            <a:rect l="l" t="t" r="r" b="b"/>
            <a:pathLst>
              <a:path w="11454766" h="562141">
                <a:moveTo>
                  <a:pt x="73725" y="0"/>
                </a:moveTo>
                <a:lnTo>
                  <a:pt x="11381042" y="0"/>
                </a:lnTo>
                <a:cubicBezTo>
                  <a:pt x="11421759" y="0"/>
                  <a:pt x="11454766" y="33008"/>
                  <a:pt x="11454766" y="73725"/>
                </a:cubicBezTo>
                <a:lnTo>
                  <a:pt x="11454766" y="488416"/>
                </a:lnTo>
                <a:cubicBezTo>
                  <a:pt x="11454766" y="529133"/>
                  <a:pt x="11421759" y="562141"/>
                  <a:pt x="11381042" y="562141"/>
                </a:cubicBezTo>
                <a:lnTo>
                  <a:pt x="73725" y="562141"/>
                </a:lnTo>
                <a:cubicBezTo>
                  <a:pt x="33035" y="562141"/>
                  <a:pt x="0" y="529106"/>
                  <a:pt x="0" y="488416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E49B5D">
              <a:alpha val="10196"/>
            </a:srgbClr>
          </a:solidFill>
        </p:spPr>
      </p:sp>
      <p:sp>
        <p:nvSpPr>
          <p:cNvPr id="51" name="Shape 41"/>
          <p:cNvSpPr/>
          <p:nvPr/>
        </p:nvSpPr>
        <p:spPr>
          <a:xfrm>
            <a:off x="618021" y="5935035"/>
            <a:ext cx="138231" cy="184308"/>
          </a:xfrm>
          <a:custGeom>
            <a:avLst/>
            <a:gdLst/>
            <a:ahLst/>
            <a:cxnLst/>
            <a:rect l="l" t="t" r="r" b="b"/>
            <a:pathLst>
              <a:path w="138231" h="184308">
                <a:moveTo>
                  <a:pt x="105437" y="138231"/>
                </a:moveTo>
                <a:cubicBezTo>
                  <a:pt x="108065" y="130204"/>
                  <a:pt x="113321" y="122932"/>
                  <a:pt x="119260" y="116669"/>
                </a:cubicBezTo>
                <a:cubicBezTo>
                  <a:pt x="131032" y="104285"/>
                  <a:pt x="138231" y="87546"/>
                  <a:pt x="138231" y="69116"/>
                </a:cubicBezTo>
                <a:cubicBezTo>
                  <a:pt x="138231" y="30958"/>
                  <a:pt x="107273" y="0"/>
                  <a:pt x="69116" y="0"/>
                </a:cubicBezTo>
                <a:cubicBezTo>
                  <a:pt x="30958" y="0"/>
                  <a:pt x="0" y="30958"/>
                  <a:pt x="0" y="69116"/>
                </a:cubicBezTo>
                <a:cubicBezTo>
                  <a:pt x="0" y="87546"/>
                  <a:pt x="7200" y="104285"/>
                  <a:pt x="18971" y="116669"/>
                </a:cubicBezTo>
                <a:cubicBezTo>
                  <a:pt x="24910" y="122932"/>
                  <a:pt x="30202" y="130204"/>
                  <a:pt x="32794" y="138231"/>
                </a:cubicBezTo>
                <a:lnTo>
                  <a:pt x="105401" y="138231"/>
                </a:lnTo>
                <a:close/>
                <a:moveTo>
                  <a:pt x="103673" y="155510"/>
                </a:moveTo>
                <a:lnTo>
                  <a:pt x="34558" y="155510"/>
                </a:lnTo>
                <a:lnTo>
                  <a:pt x="34558" y="161270"/>
                </a:lnTo>
                <a:cubicBezTo>
                  <a:pt x="34558" y="177181"/>
                  <a:pt x="47445" y="190068"/>
                  <a:pt x="63356" y="190068"/>
                </a:cubicBezTo>
                <a:lnTo>
                  <a:pt x="74875" y="190068"/>
                </a:lnTo>
                <a:cubicBezTo>
                  <a:pt x="90786" y="190068"/>
                  <a:pt x="103673" y="177181"/>
                  <a:pt x="103673" y="161270"/>
                </a:cubicBezTo>
                <a:lnTo>
                  <a:pt x="103673" y="155510"/>
                </a:lnTo>
                <a:close/>
                <a:moveTo>
                  <a:pt x="66236" y="40317"/>
                </a:moveTo>
                <a:cubicBezTo>
                  <a:pt x="51909" y="40317"/>
                  <a:pt x="40317" y="51909"/>
                  <a:pt x="40317" y="66236"/>
                </a:cubicBezTo>
                <a:cubicBezTo>
                  <a:pt x="40317" y="71024"/>
                  <a:pt x="36466" y="74875"/>
                  <a:pt x="31678" y="74875"/>
                </a:cubicBezTo>
                <a:cubicBezTo>
                  <a:pt x="26890" y="74875"/>
                  <a:pt x="23039" y="71024"/>
                  <a:pt x="23039" y="66236"/>
                </a:cubicBezTo>
                <a:cubicBezTo>
                  <a:pt x="23039" y="42369"/>
                  <a:pt x="42369" y="23039"/>
                  <a:pt x="66236" y="23039"/>
                </a:cubicBezTo>
                <a:cubicBezTo>
                  <a:pt x="71024" y="23039"/>
                  <a:pt x="74875" y="26890"/>
                  <a:pt x="74875" y="31678"/>
                </a:cubicBezTo>
                <a:cubicBezTo>
                  <a:pt x="74875" y="36466"/>
                  <a:pt x="71024" y="40317"/>
                  <a:pt x="66236" y="40317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52" name="Text 42"/>
          <p:cNvSpPr/>
          <p:nvPr/>
        </p:nvSpPr>
        <p:spPr>
          <a:xfrm>
            <a:off x="913130" y="5897880"/>
            <a:ext cx="10723880" cy="26733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实战经验：</a:t>
            </a: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翻译过程中团队协作和细致检查是关键。建议预留足够时间进行多轮检查，确保论文质量达到最佳状态。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241460"/>
            <a:ext cx="1814830" cy="48387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3200" b="1" dirty="0"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  <a:sym typeface="+mn-ea"/>
              </a:rPr>
              <a:t>时间规划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515870" y="217805"/>
            <a:ext cx="10165080" cy="439420"/>
            <a:chOff x="2584397" y="217491"/>
            <a:chExt cx="10096500" cy="439541"/>
          </a:xfrm>
        </p:grpSpPr>
        <p:sp>
          <p:nvSpPr>
            <p:cNvPr id="4" name="圆角矩形 3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9" name="Shape 39"/>
          <p:cNvSpPr/>
          <p:nvPr/>
        </p:nvSpPr>
        <p:spPr>
          <a:xfrm>
            <a:off x="309563" y="126936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50" name="Text 40"/>
          <p:cNvSpPr/>
          <p:nvPr/>
        </p:nvSpPr>
        <p:spPr>
          <a:xfrm>
            <a:off x="523875" y="1237615"/>
            <a:ext cx="1141412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工作流程</a:t>
            </a:r>
            <a:endParaRPr lang="en-US" sz="24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51" name="Shape 41"/>
          <p:cNvSpPr/>
          <p:nvPr/>
        </p:nvSpPr>
        <p:spPr>
          <a:xfrm>
            <a:off x="285750" y="161861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52" name="Text 42"/>
          <p:cNvSpPr/>
          <p:nvPr/>
        </p:nvSpPr>
        <p:spPr>
          <a:xfrm>
            <a:off x="444996" y="1697990"/>
            <a:ext cx="1428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1</a:t>
            </a:r>
            <a:endParaRPr lang="en-US" sz="20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53" name="Text 43"/>
          <p:cNvSpPr/>
          <p:nvPr/>
        </p:nvSpPr>
        <p:spPr>
          <a:xfrm>
            <a:off x="793750" y="1618615"/>
            <a:ext cx="11120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初期阶段</a:t>
            </a:r>
            <a:endParaRPr lang="en-US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54" name="Text 44"/>
          <p:cNvSpPr/>
          <p:nvPr/>
        </p:nvSpPr>
        <p:spPr>
          <a:xfrm>
            <a:off x="793750" y="1904365"/>
            <a:ext cx="1111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建模手和编程手先分析问题，构建第一个模型。写作手同时撰写问题重述、假设条件等固定板块。</a:t>
            </a:r>
            <a:endParaRPr lang="en-US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55" name="Shape 45"/>
          <p:cNvSpPr/>
          <p:nvPr/>
        </p:nvSpPr>
        <p:spPr>
          <a:xfrm>
            <a:off x="285750" y="219011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56" name="Text 46"/>
          <p:cNvSpPr/>
          <p:nvPr/>
        </p:nvSpPr>
        <p:spPr>
          <a:xfrm>
            <a:off x="431602" y="2269490"/>
            <a:ext cx="166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2</a:t>
            </a:r>
            <a:endParaRPr lang="en-US" sz="20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57" name="Text 47"/>
          <p:cNvSpPr/>
          <p:nvPr/>
        </p:nvSpPr>
        <p:spPr>
          <a:xfrm>
            <a:off x="793750" y="2190115"/>
            <a:ext cx="11120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并行阶段</a:t>
            </a:r>
            <a:endParaRPr lang="en-US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58" name="Text 48"/>
          <p:cNvSpPr/>
          <p:nvPr/>
        </p:nvSpPr>
        <p:spPr>
          <a:xfrm>
            <a:off x="793750" y="2475865"/>
            <a:ext cx="1111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第一个模型完成后，汇总给写作手进行撰写。建模手和编程手继续解决其他问题，写作手随时更新论文内容。</a:t>
            </a:r>
            <a:endParaRPr lang="en-US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59" name="Shape 49"/>
          <p:cNvSpPr/>
          <p:nvPr/>
        </p:nvSpPr>
        <p:spPr>
          <a:xfrm>
            <a:off x="285750" y="276161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696A7"/>
          </a:solidFill>
        </p:spPr>
      </p:sp>
      <p:sp>
        <p:nvSpPr>
          <p:cNvPr id="60" name="Text 50"/>
          <p:cNvSpPr/>
          <p:nvPr/>
        </p:nvSpPr>
        <p:spPr>
          <a:xfrm>
            <a:off x="429535" y="2840990"/>
            <a:ext cx="1746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3</a:t>
            </a:r>
            <a:endParaRPr lang="en-US" sz="20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61" name="Text 51"/>
          <p:cNvSpPr/>
          <p:nvPr/>
        </p:nvSpPr>
        <p:spPr>
          <a:xfrm>
            <a:off x="793750" y="2761615"/>
            <a:ext cx="11120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整合阶段</a:t>
            </a:r>
            <a:endParaRPr lang="en-US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62" name="Text 52"/>
          <p:cNvSpPr/>
          <p:nvPr/>
        </p:nvSpPr>
        <p:spPr>
          <a:xfrm>
            <a:off x="793750" y="3047365"/>
            <a:ext cx="1111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写作手完成所有撰写工作，或绘制机制原理图，或适当休息。最后由写作手进行全文汇总。</a:t>
            </a:r>
            <a:endParaRPr lang="en-US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63" name="Shape 53"/>
          <p:cNvSpPr/>
          <p:nvPr/>
        </p:nvSpPr>
        <p:spPr>
          <a:xfrm>
            <a:off x="285750" y="333311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64" name="Text 54"/>
          <p:cNvSpPr/>
          <p:nvPr/>
        </p:nvSpPr>
        <p:spPr>
          <a:xfrm>
            <a:off x="429700" y="3412490"/>
            <a:ext cx="1746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4</a:t>
            </a:r>
            <a:endParaRPr lang="en-US" sz="20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65" name="Text 55"/>
          <p:cNvSpPr/>
          <p:nvPr/>
        </p:nvSpPr>
        <p:spPr>
          <a:xfrm>
            <a:off x="793750" y="3333115"/>
            <a:ext cx="11120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润色阶段</a:t>
            </a:r>
            <a:endParaRPr lang="en-US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66" name="Text 56"/>
          <p:cNvSpPr/>
          <p:nvPr/>
        </p:nvSpPr>
        <p:spPr>
          <a:xfrm>
            <a:off x="793750" y="3618865"/>
            <a:ext cx="1111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三人一起进行论文润色，检查细节问题，确保论文质量。</a:t>
            </a:r>
            <a:endParaRPr lang="en-US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67" name="Shape 57"/>
          <p:cNvSpPr/>
          <p:nvPr/>
        </p:nvSpPr>
        <p:spPr>
          <a:xfrm>
            <a:off x="285750" y="3936365"/>
            <a:ext cx="5715000" cy="1809750"/>
          </a:xfrm>
          <a:custGeom>
            <a:avLst/>
            <a:gdLst/>
            <a:ahLst/>
            <a:cxnLst/>
            <a:rect l="l" t="t" r="r" b="b"/>
            <a:pathLst>
              <a:path w="5715000" h="1809750">
                <a:moveTo>
                  <a:pt x="63504" y="0"/>
                </a:moveTo>
                <a:lnTo>
                  <a:pt x="5651496" y="0"/>
                </a:lnTo>
                <a:cubicBezTo>
                  <a:pt x="5686568" y="0"/>
                  <a:pt x="5715000" y="28432"/>
                  <a:pt x="5715000" y="63504"/>
                </a:cubicBezTo>
                <a:lnTo>
                  <a:pt x="5715000" y="1746246"/>
                </a:lnTo>
                <a:cubicBezTo>
                  <a:pt x="5715000" y="1781318"/>
                  <a:pt x="5686568" y="1809750"/>
                  <a:pt x="5651496" y="1809750"/>
                </a:cubicBezTo>
                <a:lnTo>
                  <a:pt x="63504" y="1809750"/>
                </a:lnTo>
                <a:cubicBezTo>
                  <a:pt x="28432" y="1809750"/>
                  <a:pt x="0" y="1781318"/>
                  <a:pt x="0" y="1746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E49B5D">
              <a:alpha val="10196"/>
            </a:srgbClr>
          </a:solidFill>
        </p:spPr>
      </p:sp>
      <p:sp>
        <p:nvSpPr>
          <p:cNvPr id="68" name="Shape 58"/>
          <p:cNvSpPr/>
          <p:nvPr/>
        </p:nvSpPr>
        <p:spPr>
          <a:xfrm>
            <a:off x="432594" y="409511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ubicBezTo>
                  <a:pt x="0" y="35567"/>
                  <a:pt x="35567" y="0"/>
                  <a:pt x="79375" y="0"/>
                </a:cubicBezTo>
                <a:close/>
                <a:moveTo>
                  <a:pt x="71934" y="37207"/>
                </a:moveTo>
                <a:lnTo>
                  <a:pt x="71934" y="79375"/>
                </a:lnTo>
                <a:cubicBezTo>
                  <a:pt x="71934" y="81855"/>
                  <a:pt x="73174" y="84181"/>
                  <a:pt x="75251" y="85576"/>
                </a:cubicBezTo>
                <a:lnTo>
                  <a:pt x="105017" y="105420"/>
                </a:lnTo>
                <a:cubicBezTo>
                  <a:pt x="108427" y="107714"/>
                  <a:pt x="113047" y="106784"/>
                  <a:pt x="115342" y="103343"/>
                </a:cubicBezTo>
                <a:cubicBezTo>
                  <a:pt x="117636" y="99901"/>
                  <a:pt x="116706" y="95312"/>
                  <a:pt x="113264" y="93018"/>
                </a:cubicBezTo>
                <a:lnTo>
                  <a:pt x="86816" y="75406"/>
                </a:lnTo>
                <a:lnTo>
                  <a:pt x="86816" y="37207"/>
                </a:lnTo>
                <a:cubicBezTo>
                  <a:pt x="86816" y="33083"/>
                  <a:pt x="83499" y="29766"/>
                  <a:pt x="79375" y="29766"/>
                </a:cubicBezTo>
                <a:cubicBezTo>
                  <a:pt x="75251" y="29766"/>
                  <a:pt x="71934" y="33083"/>
                  <a:pt x="71934" y="37207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69" name="Text 59"/>
          <p:cNvSpPr/>
          <p:nvPr/>
        </p:nvSpPr>
        <p:spPr>
          <a:xfrm>
            <a:off x="611188" y="4063365"/>
            <a:ext cx="53419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时间规划建议</a:t>
            </a:r>
            <a:endParaRPr lang="en-US" sz="20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70" name="Text 60"/>
          <p:cNvSpPr/>
          <p:nvPr/>
        </p:nvSpPr>
        <p:spPr>
          <a:xfrm>
            <a:off x="412750" y="4380865"/>
            <a:ext cx="5524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至少留半天时间检查论文细节：</a:t>
            </a:r>
            <a:endParaRPr lang="en-US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71" name="Shape 61"/>
          <p:cNvSpPr/>
          <p:nvPr/>
        </p:nvSpPr>
        <p:spPr>
          <a:xfrm>
            <a:off x="436563" y="469836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72" name="Text 62"/>
          <p:cNvSpPr/>
          <p:nvPr/>
        </p:nvSpPr>
        <p:spPr>
          <a:xfrm>
            <a:off x="635000" y="4666615"/>
            <a:ext cx="1343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排版格式</a:t>
            </a:r>
            <a:endParaRPr lang="en-US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73" name="Shape 63"/>
          <p:cNvSpPr/>
          <p:nvPr/>
        </p:nvSpPr>
        <p:spPr>
          <a:xfrm>
            <a:off x="436563" y="495236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74" name="Text 64"/>
          <p:cNvSpPr/>
          <p:nvPr/>
        </p:nvSpPr>
        <p:spPr>
          <a:xfrm>
            <a:off x="635000" y="4920615"/>
            <a:ext cx="117856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公式符号</a:t>
            </a:r>
            <a:endParaRPr lang="en-US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75" name="Shape 65"/>
          <p:cNvSpPr/>
          <p:nvPr/>
        </p:nvSpPr>
        <p:spPr>
          <a:xfrm>
            <a:off x="436563" y="520636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76" name="Text 66"/>
          <p:cNvSpPr/>
          <p:nvPr/>
        </p:nvSpPr>
        <p:spPr>
          <a:xfrm>
            <a:off x="635000" y="5173980"/>
            <a:ext cx="1254125" cy="19113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摘要与结论</a:t>
            </a:r>
            <a:endParaRPr lang="en-US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77" name="Shape 67"/>
          <p:cNvSpPr/>
          <p:nvPr/>
        </p:nvSpPr>
        <p:spPr>
          <a:xfrm>
            <a:off x="436563" y="546036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78" name="Text 68"/>
          <p:cNvSpPr/>
          <p:nvPr/>
        </p:nvSpPr>
        <p:spPr>
          <a:xfrm>
            <a:off x="635000" y="5428615"/>
            <a:ext cx="201168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创新点与优缺点</a:t>
            </a:r>
            <a:endParaRPr lang="en-US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79" name="Shape 69"/>
          <p:cNvSpPr/>
          <p:nvPr/>
        </p:nvSpPr>
        <p:spPr>
          <a:xfrm>
            <a:off x="6127750" y="3936365"/>
            <a:ext cx="5715000" cy="1809750"/>
          </a:xfrm>
          <a:custGeom>
            <a:avLst/>
            <a:gdLst/>
            <a:ahLst/>
            <a:cxnLst/>
            <a:rect l="l" t="t" r="r" b="b"/>
            <a:pathLst>
              <a:path w="5715000" h="1809750">
                <a:moveTo>
                  <a:pt x="63504" y="0"/>
                </a:moveTo>
                <a:lnTo>
                  <a:pt x="5651496" y="0"/>
                </a:lnTo>
                <a:cubicBezTo>
                  <a:pt x="5686568" y="0"/>
                  <a:pt x="5715000" y="28432"/>
                  <a:pt x="5715000" y="63504"/>
                </a:cubicBezTo>
                <a:lnTo>
                  <a:pt x="5715000" y="1746246"/>
                </a:lnTo>
                <a:cubicBezTo>
                  <a:pt x="5715000" y="1781318"/>
                  <a:pt x="5686568" y="1809750"/>
                  <a:pt x="5651496" y="1809750"/>
                </a:cubicBezTo>
                <a:lnTo>
                  <a:pt x="63504" y="1809750"/>
                </a:lnTo>
                <a:cubicBezTo>
                  <a:pt x="28432" y="1809750"/>
                  <a:pt x="0" y="1781318"/>
                  <a:pt x="0" y="1746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80" name="Shape 70"/>
          <p:cNvSpPr/>
          <p:nvPr/>
        </p:nvSpPr>
        <p:spPr>
          <a:xfrm>
            <a:off x="6274594" y="409511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81" name="Text 71"/>
          <p:cNvSpPr/>
          <p:nvPr/>
        </p:nvSpPr>
        <p:spPr>
          <a:xfrm>
            <a:off x="6453188" y="4063365"/>
            <a:ext cx="53419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常见问题</a:t>
            </a:r>
            <a:endParaRPr lang="en-US" sz="20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82" name="Shape 72"/>
          <p:cNvSpPr/>
          <p:nvPr/>
        </p:nvSpPr>
        <p:spPr>
          <a:xfrm>
            <a:off x="6270625" y="441261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424" y="41424"/>
                </a:moveTo>
                <a:cubicBezTo>
                  <a:pt x="43755" y="39092"/>
                  <a:pt x="47526" y="39092"/>
                  <a:pt x="49833" y="41424"/>
                </a:cubicBezTo>
                <a:lnTo>
                  <a:pt x="63475" y="55066"/>
                </a:lnTo>
                <a:lnTo>
                  <a:pt x="77118" y="41424"/>
                </a:lnTo>
                <a:cubicBezTo>
                  <a:pt x="79449" y="39092"/>
                  <a:pt x="83220" y="39092"/>
                  <a:pt x="85527" y="41424"/>
                </a:cubicBezTo>
                <a:cubicBezTo>
                  <a:pt x="87833" y="43755"/>
                  <a:pt x="87858" y="47526"/>
                  <a:pt x="85527" y="49833"/>
                </a:cubicBezTo>
                <a:lnTo>
                  <a:pt x="71884" y="63475"/>
                </a:lnTo>
                <a:lnTo>
                  <a:pt x="85527" y="77118"/>
                </a:lnTo>
                <a:cubicBezTo>
                  <a:pt x="87858" y="79449"/>
                  <a:pt x="87858" y="83220"/>
                  <a:pt x="85527" y="85527"/>
                </a:cubicBezTo>
                <a:cubicBezTo>
                  <a:pt x="83195" y="87833"/>
                  <a:pt x="79425" y="87858"/>
                  <a:pt x="77118" y="85527"/>
                </a:cubicBezTo>
                <a:lnTo>
                  <a:pt x="63475" y="71884"/>
                </a:lnTo>
                <a:lnTo>
                  <a:pt x="49833" y="85527"/>
                </a:lnTo>
                <a:cubicBezTo>
                  <a:pt x="47501" y="87858"/>
                  <a:pt x="43731" y="87858"/>
                  <a:pt x="41424" y="85527"/>
                </a:cubicBezTo>
                <a:cubicBezTo>
                  <a:pt x="39117" y="83195"/>
                  <a:pt x="39092" y="79425"/>
                  <a:pt x="41424" y="77118"/>
                </a:cubicBezTo>
                <a:lnTo>
                  <a:pt x="55066" y="63475"/>
                </a:lnTo>
                <a:lnTo>
                  <a:pt x="41424" y="49833"/>
                </a:lnTo>
                <a:cubicBezTo>
                  <a:pt x="39092" y="47501"/>
                  <a:pt x="39092" y="43731"/>
                  <a:pt x="41424" y="41424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83" name="Text 73"/>
          <p:cNvSpPr/>
          <p:nvPr/>
        </p:nvSpPr>
        <p:spPr>
          <a:xfrm>
            <a:off x="6477000" y="4380865"/>
            <a:ext cx="1778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论文写不完</a:t>
            </a:r>
            <a:endParaRPr lang="en-US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84" name="Shape 74"/>
          <p:cNvSpPr/>
          <p:nvPr/>
        </p:nvSpPr>
        <p:spPr>
          <a:xfrm>
            <a:off x="6270625" y="466661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424" y="41424"/>
                </a:moveTo>
                <a:cubicBezTo>
                  <a:pt x="43755" y="39092"/>
                  <a:pt x="47526" y="39092"/>
                  <a:pt x="49833" y="41424"/>
                </a:cubicBezTo>
                <a:lnTo>
                  <a:pt x="63475" y="55066"/>
                </a:lnTo>
                <a:lnTo>
                  <a:pt x="77118" y="41424"/>
                </a:lnTo>
                <a:cubicBezTo>
                  <a:pt x="79449" y="39092"/>
                  <a:pt x="83220" y="39092"/>
                  <a:pt x="85527" y="41424"/>
                </a:cubicBezTo>
                <a:cubicBezTo>
                  <a:pt x="87833" y="43755"/>
                  <a:pt x="87858" y="47526"/>
                  <a:pt x="85527" y="49833"/>
                </a:cubicBezTo>
                <a:lnTo>
                  <a:pt x="71884" y="63475"/>
                </a:lnTo>
                <a:lnTo>
                  <a:pt x="85527" y="77118"/>
                </a:lnTo>
                <a:cubicBezTo>
                  <a:pt x="87858" y="79449"/>
                  <a:pt x="87858" y="83220"/>
                  <a:pt x="85527" y="85527"/>
                </a:cubicBezTo>
                <a:cubicBezTo>
                  <a:pt x="83195" y="87833"/>
                  <a:pt x="79425" y="87858"/>
                  <a:pt x="77118" y="85527"/>
                </a:cubicBezTo>
                <a:lnTo>
                  <a:pt x="63475" y="71884"/>
                </a:lnTo>
                <a:lnTo>
                  <a:pt x="49833" y="85527"/>
                </a:lnTo>
                <a:cubicBezTo>
                  <a:pt x="47501" y="87858"/>
                  <a:pt x="43731" y="87858"/>
                  <a:pt x="41424" y="85527"/>
                </a:cubicBezTo>
                <a:cubicBezTo>
                  <a:pt x="39117" y="83195"/>
                  <a:pt x="39092" y="79425"/>
                  <a:pt x="41424" y="77118"/>
                </a:cubicBezTo>
                <a:lnTo>
                  <a:pt x="55066" y="63475"/>
                </a:lnTo>
                <a:lnTo>
                  <a:pt x="41424" y="49833"/>
                </a:lnTo>
                <a:cubicBezTo>
                  <a:pt x="39092" y="47501"/>
                  <a:pt x="39092" y="43731"/>
                  <a:pt x="41424" y="41424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85" name="Text 75"/>
          <p:cNvSpPr/>
          <p:nvPr/>
        </p:nvSpPr>
        <p:spPr>
          <a:xfrm>
            <a:off x="6477000" y="4634865"/>
            <a:ext cx="227901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排版格式出问题</a:t>
            </a:r>
            <a:endParaRPr lang="en-US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86" name="Shape 76"/>
          <p:cNvSpPr/>
          <p:nvPr/>
        </p:nvSpPr>
        <p:spPr>
          <a:xfrm>
            <a:off x="6270625" y="492061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424" y="41424"/>
                </a:moveTo>
                <a:cubicBezTo>
                  <a:pt x="43755" y="39092"/>
                  <a:pt x="47526" y="39092"/>
                  <a:pt x="49833" y="41424"/>
                </a:cubicBezTo>
                <a:lnTo>
                  <a:pt x="63475" y="55066"/>
                </a:lnTo>
                <a:lnTo>
                  <a:pt x="77118" y="41424"/>
                </a:lnTo>
                <a:cubicBezTo>
                  <a:pt x="79449" y="39092"/>
                  <a:pt x="83220" y="39092"/>
                  <a:pt x="85527" y="41424"/>
                </a:cubicBezTo>
                <a:cubicBezTo>
                  <a:pt x="87833" y="43755"/>
                  <a:pt x="87858" y="47526"/>
                  <a:pt x="85527" y="49833"/>
                </a:cubicBezTo>
                <a:lnTo>
                  <a:pt x="71884" y="63475"/>
                </a:lnTo>
                <a:lnTo>
                  <a:pt x="85527" y="77118"/>
                </a:lnTo>
                <a:cubicBezTo>
                  <a:pt x="87858" y="79449"/>
                  <a:pt x="87858" y="83220"/>
                  <a:pt x="85527" y="85527"/>
                </a:cubicBezTo>
                <a:cubicBezTo>
                  <a:pt x="83195" y="87833"/>
                  <a:pt x="79425" y="87858"/>
                  <a:pt x="77118" y="85527"/>
                </a:cubicBezTo>
                <a:lnTo>
                  <a:pt x="63475" y="71884"/>
                </a:lnTo>
                <a:lnTo>
                  <a:pt x="49833" y="85527"/>
                </a:lnTo>
                <a:cubicBezTo>
                  <a:pt x="47501" y="87858"/>
                  <a:pt x="43731" y="87858"/>
                  <a:pt x="41424" y="85527"/>
                </a:cubicBezTo>
                <a:cubicBezTo>
                  <a:pt x="39117" y="83195"/>
                  <a:pt x="39092" y="79425"/>
                  <a:pt x="41424" y="77118"/>
                </a:cubicBezTo>
                <a:lnTo>
                  <a:pt x="55066" y="63475"/>
                </a:lnTo>
                <a:lnTo>
                  <a:pt x="41424" y="49833"/>
                </a:lnTo>
                <a:cubicBezTo>
                  <a:pt x="39092" y="47501"/>
                  <a:pt x="39092" y="43731"/>
                  <a:pt x="41424" y="41424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87" name="Text 77"/>
          <p:cNvSpPr/>
          <p:nvPr/>
        </p:nvSpPr>
        <p:spPr>
          <a:xfrm>
            <a:off x="6477000" y="4888865"/>
            <a:ext cx="220472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网络拥堵交不上论文</a:t>
            </a:r>
            <a:endParaRPr lang="en-US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88" name="Text 78"/>
          <p:cNvSpPr/>
          <p:nvPr/>
        </p:nvSpPr>
        <p:spPr>
          <a:xfrm>
            <a:off x="6254750" y="5174615"/>
            <a:ext cx="5524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提前完成、多次检查、预留提交时间是关键。</a:t>
            </a:r>
            <a:endParaRPr lang="en-US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144940"/>
            <a:ext cx="3451860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en-US" sz="3200" b="1" dirty="0">
                <a:latin typeface="方正楷体_GBK" panose="03000509000000000000" charset="-122"/>
                <a:ea typeface="方正楷体_GBK" panose="03000509000000000000" charset="-122"/>
                <a:cs typeface="方正楷体_GBK" panose="03000509000000000000" charset="-122"/>
                <a:sym typeface="+mn-ea"/>
              </a:rPr>
              <a:t>AI工具的高效应用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4305935" y="217805"/>
            <a:ext cx="8375015" cy="439420"/>
            <a:chOff x="2584397" y="217491"/>
            <a:chExt cx="10096500" cy="439541"/>
          </a:xfrm>
        </p:grpSpPr>
        <p:sp>
          <p:nvSpPr>
            <p:cNvPr id="4" name="圆角矩形 3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7" name="Text 1"/>
          <p:cNvSpPr/>
          <p:nvPr/>
        </p:nvSpPr>
        <p:spPr>
          <a:xfrm>
            <a:off x="373701" y="710032"/>
            <a:ext cx="11668818" cy="448441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80000"/>
              </a:lnSpc>
            </a:pPr>
            <a:endParaRPr lang="en-US" sz="353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方正楷体_GBK" panose="03000509000000000000" charset="-122"/>
            </a:endParaRPr>
          </a:p>
        </p:txBody>
      </p:sp>
      <p:sp>
        <p:nvSpPr>
          <p:cNvPr id="51" name="Shape 3"/>
          <p:cNvSpPr/>
          <p:nvPr/>
        </p:nvSpPr>
        <p:spPr>
          <a:xfrm>
            <a:off x="439106" y="1270460"/>
            <a:ext cx="280276" cy="224221"/>
          </a:xfrm>
          <a:custGeom>
            <a:avLst/>
            <a:gdLst/>
            <a:ahLst/>
            <a:cxnLst/>
            <a:rect l="l" t="t" r="r" b="b"/>
            <a:pathLst>
              <a:path w="280276" h="224221">
                <a:moveTo>
                  <a:pt x="154152" y="0"/>
                </a:moveTo>
                <a:cubicBezTo>
                  <a:pt x="154152" y="-7751"/>
                  <a:pt x="147889" y="-14014"/>
                  <a:pt x="140138" y="-14014"/>
                </a:cubicBezTo>
                <a:cubicBezTo>
                  <a:pt x="132387" y="-14014"/>
                  <a:pt x="126124" y="-7751"/>
                  <a:pt x="126124" y="0"/>
                </a:cubicBezTo>
                <a:lnTo>
                  <a:pt x="126124" y="28028"/>
                </a:lnTo>
                <a:lnTo>
                  <a:pt x="84083" y="28028"/>
                </a:lnTo>
                <a:cubicBezTo>
                  <a:pt x="60872" y="28028"/>
                  <a:pt x="42041" y="46859"/>
                  <a:pt x="42041" y="70069"/>
                </a:cubicBezTo>
                <a:lnTo>
                  <a:pt x="42041" y="168166"/>
                </a:lnTo>
                <a:cubicBezTo>
                  <a:pt x="42041" y="191376"/>
                  <a:pt x="60872" y="210207"/>
                  <a:pt x="84083" y="210207"/>
                </a:cubicBezTo>
                <a:lnTo>
                  <a:pt x="196193" y="210207"/>
                </a:lnTo>
                <a:cubicBezTo>
                  <a:pt x="219403" y="210207"/>
                  <a:pt x="238234" y="191376"/>
                  <a:pt x="238234" y="168166"/>
                </a:cubicBezTo>
                <a:lnTo>
                  <a:pt x="238234" y="70069"/>
                </a:lnTo>
                <a:cubicBezTo>
                  <a:pt x="238234" y="46859"/>
                  <a:pt x="219403" y="28028"/>
                  <a:pt x="196193" y="28028"/>
                </a:cubicBezTo>
                <a:lnTo>
                  <a:pt x="154152" y="28028"/>
                </a:lnTo>
                <a:lnTo>
                  <a:pt x="154152" y="0"/>
                </a:lnTo>
                <a:close/>
                <a:moveTo>
                  <a:pt x="70069" y="161159"/>
                </a:moveTo>
                <a:cubicBezTo>
                  <a:pt x="70069" y="155334"/>
                  <a:pt x="74755" y="150648"/>
                  <a:pt x="80579" y="150648"/>
                </a:cubicBezTo>
                <a:lnTo>
                  <a:pt x="94593" y="150648"/>
                </a:lnTo>
                <a:cubicBezTo>
                  <a:pt x="100418" y="150648"/>
                  <a:pt x="105103" y="155334"/>
                  <a:pt x="105103" y="161159"/>
                </a:cubicBezTo>
                <a:cubicBezTo>
                  <a:pt x="105103" y="166983"/>
                  <a:pt x="100418" y="171669"/>
                  <a:pt x="94593" y="171669"/>
                </a:cubicBezTo>
                <a:lnTo>
                  <a:pt x="80579" y="171669"/>
                </a:lnTo>
                <a:cubicBezTo>
                  <a:pt x="74755" y="171669"/>
                  <a:pt x="70069" y="166983"/>
                  <a:pt x="70069" y="161159"/>
                </a:cubicBezTo>
                <a:close/>
                <a:moveTo>
                  <a:pt x="122621" y="161159"/>
                </a:moveTo>
                <a:cubicBezTo>
                  <a:pt x="122621" y="155334"/>
                  <a:pt x="127307" y="150648"/>
                  <a:pt x="133131" y="150648"/>
                </a:cubicBezTo>
                <a:lnTo>
                  <a:pt x="147145" y="150648"/>
                </a:lnTo>
                <a:cubicBezTo>
                  <a:pt x="152969" y="150648"/>
                  <a:pt x="157655" y="155334"/>
                  <a:pt x="157655" y="161159"/>
                </a:cubicBezTo>
                <a:cubicBezTo>
                  <a:pt x="157655" y="166983"/>
                  <a:pt x="152969" y="171669"/>
                  <a:pt x="147145" y="171669"/>
                </a:cubicBezTo>
                <a:lnTo>
                  <a:pt x="133131" y="171669"/>
                </a:lnTo>
                <a:cubicBezTo>
                  <a:pt x="127307" y="171669"/>
                  <a:pt x="122621" y="166983"/>
                  <a:pt x="122621" y="161159"/>
                </a:cubicBezTo>
                <a:close/>
                <a:moveTo>
                  <a:pt x="175172" y="161159"/>
                </a:moveTo>
                <a:cubicBezTo>
                  <a:pt x="175172" y="155334"/>
                  <a:pt x="179858" y="150648"/>
                  <a:pt x="185683" y="150648"/>
                </a:cubicBezTo>
                <a:lnTo>
                  <a:pt x="199697" y="150648"/>
                </a:lnTo>
                <a:cubicBezTo>
                  <a:pt x="205521" y="150648"/>
                  <a:pt x="210207" y="155334"/>
                  <a:pt x="210207" y="161159"/>
                </a:cubicBezTo>
                <a:cubicBezTo>
                  <a:pt x="210207" y="166983"/>
                  <a:pt x="205521" y="171669"/>
                  <a:pt x="199697" y="171669"/>
                </a:cubicBezTo>
                <a:lnTo>
                  <a:pt x="185683" y="171669"/>
                </a:lnTo>
                <a:cubicBezTo>
                  <a:pt x="179858" y="171669"/>
                  <a:pt x="175172" y="166983"/>
                  <a:pt x="175172" y="161159"/>
                </a:cubicBezTo>
                <a:close/>
                <a:moveTo>
                  <a:pt x="98097" y="77076"/>
                </a:moveTo>
                <a:cubicBezTo>
                  <a:pt x="109698" y="77076"/>
                  <a:pt x="119117" y="86495"/>
                  <a:pt x="119117" y="98097"/>
                </a:cubicBezTo>
                <a:cubicBezTo>
                  <a:pt x="119117" y="109698"/>
                  <a:pt x="109698" y="119117"/>
                  <a:pt x="98097" y="119117"/>
                </a:cubicBezTo>
                <a:cubicBezTo>
                  <a:pt x="86495" y="119117"/>
                  <a:pt x="77076" y="109698"/>
                  <a:pt x="77076" y="98097"/>
                </a:cubicBezTo>
                <a:cubicBezTo>
                  <a:pt x="77076" y="86495"/>
                  <a:pt x="86495" y="77076"/>
                  <a:pt x="98097" y="77076"/>
                </a:cubicBezTo>
                <a:close/>
                <a:moveTo>
                  <a:pt x="161159" y="98097"/>
                </a:moveTo>
                <a:cubicBezTo>
                  <a:pt x="161159" y="86495"/>
                  <a:pt x="170578" y="77076"/>
                  <a:pt x="182179" y="77076"/>
                </a:cubicBezTo>
                <a:cubicBezTo>
                  <a:pt x="193781" y="77076"/>
                  <a:pt x="203200" y="86495"/>
                  <a:pt x="203200" y="98097"/>
                </a:cubicBezTo>
                <a:cubicBezTo>
                  <a:pt x="203200" y="109698"/>
                  <a:pt x="193781" y="119117"/>
                  <a:pt x="182179" y="119117"/>
                </a:cubicBezTo>
                <a:cubicBezTo>
                  <a:pt x="170578" y="119117"/>
                  <a:pt x="161159" y="109698"/>
                  <a:pt x="161159" y="98097"/>
                </a:cubicBezTo>
                <a:close/>
                <a:moveTo>
                  <a:pt x="28028" y="98097"/>
                </a:moveTo>
                <a:cubicBezTo>
                  <a:pt x="28028" y="90345"/>
                  <a:pt x="21765" y="84083"/>
                  <a:pt x="14014" y="84083"/>
                </a:cubicBezTo>
                <a:cubicBezTo>
                  <a:pt x="6262" y="84083"/>
                  <a:pt x="0" y="90345"/>
                  <a:pt x="0" y="98097"/>
                </a:cubicBezTo>
                <a:lnTo>
                  <a:pt x="0" y="140138"/>
                </a:lnTo>
                <a:cubicBezTo>
                  <a:pt x="0" y="147889"/>
                  <a:pt x="6262" y="154152"/>
                  <a:pt x="14014" y="154152"/>
                </a:cubicBezTo>
                <a:cubicBezTo>
                  <a:pt x="21765" y="154152"/>
                  <a:pt x="28028" y="147889"/>
                  <a:pt x="28028" y="140138"/>
                </a:cubicBezTo>
                <a:lnTo>
                  <a:pt x="28028" y="98097"/>
                </a:lnTo>
                <a:close/>
                <a:moveTo>
                  <a:pt x="266262" y="84083"/>
                </a:moveTo>
                <a:cubicBezTo>
                  <a:pt x="258511" y="84083"/>
                  <a:pt x="252248" y="90345"/>
                  <a:pt x="252248" y="98097"/>
                </a:cubicBezTo>
                <a:lnTo>
                  <a:pt x="252248" y="140138"/>
                </a:lnTo>
                <a:cubicBezTo>
                  <a:pt x="252248" y="147889"/>
                  <a:pt x="258511" y="154152"/>
                  <a:pt x="266262" y="154152"/>
                </a:cubicBezTo>
                <a:cubicBezTo>
                  <a:pt x="274013" y="154152"/>
                  <a:pt x="280276" y="147889"/>
                  <a:pt x="280276" y="140138"/>
                </a:cubicBezTo>
                <a:lnTo>
                  <a:pt x="280276" y="98097"/>
                </a:lnTo>
                <a:cubicBezTo>
                  <a:pt x="280276" y="90345"/>
                  <a:pt x="274013" y="84083"/>
                  <a:pt x="266262" y="84083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53" name="Text 4"/>
          <p:cNvSpPr/>
          <p:nvPr/>
        </p:nvSpPr>
        <p:spPr>
          <a:xfrm>
            <a:off x="719382" y="1233090"/>
            <a:ext cx="11276432" cy="298961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方正楷体_GBK" panose="03000509000000000000" charset="-122"/>
              </a:rPr>
              <a:t>AI在建模竞赛中的全方位应用</a:t>
            </a:r>
            <a:endParaRPr lang="en-US" sz="24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方正楷体_GBK" panose="03000509000000000000" charset="-122"/>
            </a:endParaRPr>
          </a:p>
        </p:txBody>
      </p:sp>
      <p:sp>
        <p:nvSpPr>
          <p:cNvPr id="64" name="Shape 5"/>
          <p:cNvSpPr/>
          <p:nvPr/>
        </p:nvSpPr>
        <p:spPr>
          <a:xfrm>
            <a:off x="457791" y="1681531"/>
            <a:ext cx="37370" cy="1382694"/>
          </a:xfrm>
          <a:custGeom>
            <a:avLst/>
            <a:gdLst/>
            <a:ahLst/>
            <a:cxnLst/>
            <a:rect l="l" t="t" r="r" b="b"/>
            <a:pathLst>
              <a:path w="37370" h="1382694">
                <a:moveTo>
                  <a:pt x="0" y="0"/>
                </a:moveTo>
                <a:lnTo>
                  <a:pt x="37370" y="0"/>
                </a:lnTo>
                <a:lnTo>
                  <a:pt x="37370" y="1382694"/>
                </a:lnTo>
                <a:lnTo>
                  <a:pt x="0" y="1382694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65" name="Shape 6"/>
          <p:cNvSpPr/>
          <p:nvPr/>
        </p:nvSpPr>
        <p:spPr>
          <a:xfrm>
            <a:off x="625957" y="1681531"/>
            <a:ext cx="448441" cy="448441"/>
          </a:xfrm>
          <a:custGeom>
            <a:avLst/>
            <a:gdLst/>
            <a:ahLst/>
            <a:cxnLst/>
            <a:rect l="l" t="t" r="r" b="b"/>
            <a:pathLst>
              <a:path w="448441" h="448441">
                <a:moveTo>
                  <a:pt x="224221" y="0"/>
                </a:moveTo>
                <a:lnTo>
                  <a:pt x="224221" y="0"/>
                </a:lnTo>
                <a:cubicBezTo>
                  <a:pt x="347971" y="0"/>
                  <a:pt x="448441" y="100470"/>
                  <a:pt x="448441" y="224221"/>
                </a:cubicBezTo>
                <a:lnTo>
                  <a:pt x="448441" y="224221"/>
                </a:lnTo>
                <a:cubicBezTo>
                  <a:pt x="448441" y="347971"/>
                  <a:pt x="347971" y="448441"/>
                  <a:pt x="224221" y="448441"/>
                </a:cubicBezTo>
                <a:lnTo>
                  <a:pt x="224221" y="448441"/>
                </a:lnTo>
                <a:cubicBezTo>
                  <a:pt x="100470" y="448441"/>
                  <a:pt x="0" y="347971"/>
                  <a:pt x="0" y="224221"/>
                </a:cubicBezTo>
                <a:lnTo>
                  <a:pt x="0" y="224221"/>
                </a:lnTo>
                <a:cubicBezTo>
                  <a:pt x="0" y="100470"/>
                  <a:pt x="100470" y="0"/>
                  <a:pt x="224221" y="0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66" name="Shape 7"/>
          <p:cNvSpPr/>
          <p:nvPr/>
        </p:nvSpPr>
        <p:spPr>
          <a:xfrm>
            <a:off x="745074" y="1812326"/>
            <a:ext cx="210207" cy="186851"/>
          </a:xfrm>
          <a:custGeom>
            <a:avLst/>
            <a:gdLst/>
            <a:ahLst/>
            <a:cxnLst/>
            <a:rect l="l" t="t" r="r" b="b"/>
            <a:pathLst>
              <a:path w="210207" h="186851">
                <a:moveTo>
                  <a:pt x="58391" y="0"/>
                </a:moveTo>
                <a:cubicBezTo>
                  <a:pt x="64850" y="0"/>
                  <a:pt x="70069" y="5219"/>
                  <a:pt x="70069" y="11678"/>
                </a:cubicBezTo>
                <a:lnTo>
                  <a:pt x="70069" y="23356"/>
                </a:lnTo>
                <a:lnTo>
                  <a:pt x="116782" y="23356"/>
                </a:lnTo>
                <a:cubicBezTo>
                  <a:pt x="123241" y="23356"/>
                  <a:pt x="128460" y="28575"/>
                  <a:pt x="128460" y="35034"/>
                </a:cubicBezTo>
                <a:cubicBezTo>
                  <a:pt x="128460" y="41494"/>
                  <a:pt x="123241" y="46713"/>
                  <a:pt x="116782" y="46713"/>
                </a:cubicBezTo>
                <a:lnTo>
                  <a:pt x="113278" y="46713"/>
                </a:lnTo>
                <a:lnTo>
                  <a:pt x="110213" y="55143"/>
                </a:lnTo>
                <a:cubicBezTo>
                  <a:pt x="104228" y="71638"/>
                  <a:pt x="95214" y="86710"/>
                  <a:pt x="83864" y="99666"/>
                </a:cubicBezTo>
                <a:cubicBezTo>
                  <a:pt x="89046" y="102877"/>
                  <a:pt x="94447" y="105724"/>
                  <a:pt x="100067" y="108242"/>
                </a:cubicBezTo>
                <a:lnTo>
                  <a:pt x="118460" y="116417"/>
                </a:lnTo>
                <a:lnTo>
                  <a:pt x="141160" y="65325"/>
                </a:lnTo>
                <a:cubicBezTo>
                  <a:pt x="143021" y="61091"/>
                  <a:pt x="147218" y="58391"/>
                  <a:pt x="151816" y="58391"/>
                </a:cubicBezTo>
                <a:cubicBezTo>
                  <a:pt x="156414" y="58391"/>
                  <a:pt x="160611" y="61091"/>
                  <a:pt x="162472" y="65325"/>
                </a:cubicBezTo>
                <a:lnTo>
                  <a:pt x="209185" y="170428"/>
                </a:lnTo>
                <a:cubicBezTo>
                  <a:pt x="211813" y="176340"/>
                  <a:pt x="209149" y="183238"/>
                  <a:pt x="203273" y="185829"/>
                </a:cubicBezTo>
                <a:cubicBezTo>
                  <a:pt x="197397" y="188420"/>
                  <a:pt x="190464" y="185792"/>
                  <a:pt x="187872" y="179917"/>
                </a:cubicBezTo>
                <a:lnTo>
                  <a:pt x="180574" y="163494"/>
                </a:lnTo>
                <a:lnTo>
                  <a:pt x="123095" y="163494"/>
                </a:lnTo>
                <a:lnTo>
                  <a:pt x="115796" y="179917"/>
                </a:lnTo>
                <a:cubicBezTo>
                  <a:pt x="113169" y="185829"/>
                  <a:pt x="106271" y="188456"/>
                  <a:pt x="100396" y="185829"/>
                </a:cubicBezTo>
                <a:cubicBezTo>
                  <a:pt x="94520" y="183201"/>
                  <a:pt x="91856" y="176304"/>
                  <a:pt x="94484" y="170428"/>
                </a:cubicBezTo>
                <a:lnTo>
                  <a:pt x="109008" y="137766"/>
                </a:lnTo>
                <a:lnTo>
                  <a:pt x="90615" y="129591"/>
                </a:lnTo>
                <a:cubicBezTo>
                  <a:pt x="82222" y="125869"/>
                  <a:pt x="74193" y="121416"/>
                  <a:pt x="66602" y="116307"/>
                </a:cubicBezTo>
                <a:cubicBezTo>
                  <a:pt x="58829" y="122584"/>
                  <a:pt x="50326" y="128058"/>
                  <a:pt x="41239" y="132620"/>
                </a:cubicBezTo>
                <a:lnTo>
                  <a:pt x="28575" y="138897"/>
                </a:lnTo>
                <a:cubicBezTo>
                  <a:pt x="22809" y="141780"/>
                  <a:pt x="15802" y="139445"/>
                  <a:pt x="12919" y="133678"/>
                </a:cubicBezTo>
                <a:cubicBezTo>
                  <a:pt x="10036" y="127912"/>
                  <a:pt x="12372" y="120905"/>
                  <a:pt x="18138" y="118022"/>
                </a:cubicBezTo>
                <a:lnTo>
                  <a:pt x="30728" y="111709"/>
                </a:lnTo>
                <a:cubicBezTo>
                  <a:pt x="36677" y="108716"/>
                  <a:pt x="42333" y="105249"/>
                  <a:pt x="47661" y="101381"/>
                </a:cubicBezTo>
                <a:cubicBezTo>
                  <a:pt x="42625" y="96746"/>
                  <a:pt x="37881" y="91747"/>
                  <a:pt x="33465" y="86455"/>
                </a:cubicBezTo>
                <a:lnTo>
                  <a:pt x="29779" y="82003"/>
                </a:lnTo>
                <a:cubicBezTo>
                  <a:pt x="25655" y="77039"/>
                  <a:pt x="26312" y="69668"/>
                  <a:pt x="31276" y="65544"/>
                </a:cubicBezTo>
                <a:cubicBezTo>
                  <a:pt x="36239" y="61420"/>
                  <a:pt x="43611" y="62077"/>
                  <a:pt x="47734" y="67040"/>
                </a:cubicBezTo>
                <a:lnTo>
                  <a:pt x="51457" y="71492"/>
                </a:lnTo>
                <a:cubicBezTo>
                  <a:pt x="55654" y="76565"/>
                  <a:pt x="60252" y="81273"/>
                  <a:pt x="65106" y="85616"/>
                </a:cubicBezTo>
                <a:cubicBezTo>
                  <a:pt x="75142" y="74521"/>
                  <a:pt x="83061" y="61493"/>
                  <a:pt x="88280" y="47151"/>
                </a:cubicBezTo>
                <a:lnTo>
                  <a:pt x="88462" y="46713"/>
                </a:lnTo>
                <a:lnTo>
                  <a:pt x="11715" y="46713"/>
                </a:lnTo>
                <a:cubicBezTo>
                  <a:pt x="5219" y="46713"/>
                  <a:pt x="0" y="41494"/>
                  <a:pt x="0" y="35034"/>
                </a:cubicBezTo>
                <a:cubicBezTo>
                  <a:pt x="0" y="28575"/>
                  <a:pt x="5219" y="23356"/>
                  <a:pt x="11678" y="23356"/>
                </a:cubicBezTo>
                <a:lnTo>
                  <a:pt x="46713" y="23356"/>
                </a:lnTo>
                <a:lnTo>
                  <a:pt x="46713" y="11678"/>
                </a:lnTo>
                <a:cubicBezTo>
                  <a:pt x="46713" y="5219"/>
                  <a:pt x="51931" y="0"/>
                  <a:pt x="58391" y="0"/>
                </a:cubicBezTo>
                <a:close/>
                <a:moveTo>
                  <a:pt x="151816" y="98826"/>
                </a:moveTo>
                <a:lnTo>
                  <a:pt x="133459" y="140138"/>
                </a:lnTo>
                <a:lnTo>
                  <a:pt x="170173" y="140138"/>
                </a:lnTo>
                <a:lnTo>
                  <a:pt x="151816" y="98826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67" name="Text 8"/>
          <p:cNvSpPr/>
          <p:nvPr/>
        </p:nvSpPr>
        <p:spPr>
          <a:xfrm>
            <a:off x="1186815" y="1774825"/>
            <a:ext cx="1632585" cy="2616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语言处理</a:t>
            </a:r>
            <a:endParaRPr lang="en-US" sz="20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68" name="Shape 9"/>
          <p:cNvSpPr/>
          <p:nvPr/>
        </p:nvSpPr>
        <p:spPr>
          <a:xfrm>
            <a:off x="653984" y="2279453"/>
            <a:ext cx="130795" cy="149480"/>
          </a:xfrm>
          <a:custGeom>
            <a:avLst/>
            <a:gdLst/>
            <a:ahLst/>
            <a:cxnLst/>
            <a:rect l="l" t="t" r="r" b="b"/>
            <a:pathLst>
              <a:path w="130795" h="149480">
                <a:moveTo>
                  <a:pt x="126942" y="20466"/>
                </a:moveTo>
                <a:cubicBezTo>
                  <a:pt x="131117" y="23502"/>
                  <a:pt x="132051" y="29341"/>
                  <a:pt x="129014" y="33516"/>
                </a:cubicBezTo>
                <a:lnTo>
                  <a:pt x="54274" y="136284"/>
                </a:lnTo>
                <a:cubicBezTo>
                  <a:pt x="52669" y="138503"/>
                  <a:pt x="50187" y="139875"/>
                  <a:pt x="47443" y="140109"/>
                </a:cubicBezTo>
                <a:cubicBezTo>
                  <a:pt x="44698" y="140342"/>
                  <a:pt x="42041" y="139320"/>
                  <a:pt x="40114" y="137394"/>
                </a:cubicBezTo>
                <a:lnTo>
                  <a:pt x="2744" y="100023"/>
                </a:lnTo>
                <a:cubicBezTo>
                  <a:pt x="-905" y="96374"/>
                  <a:pt x="-905" y="90447"/>
                  <a:pt x="2744" y="86798"/>
                </a:cubicBezTo>
                <a:cubicBezTo>
                  <a:pt x="6394" y="83149"/>
                  <a:pt x="12320" y="83149"/>
                  <a:pt x="15970" y="86798"/>
                </a:cubicBezTo>
                <a:lnTo>
                  <a:pt x="45603" y="116431"/>
                </a:lnTo>
                <a:lnTo>
                  <a:pt x="113920" y="22510"/>
                </a:lnTo>
                <a:cubicBezTo>
                  <a:pt x="116957" y="18335"/>
                  <a:pt x="122796" y="17400"/>
                  <a:pt x="126971" y="20437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69" name="Text 10"/>
          <p:cNvSpPr/>
          <p:nvPr/>
        </p:nvSpPr>
        <p:spPr>
          <a:xfrm>
            <a:off x="887730" y="2242185"/>
            <a:ext cx="1931035" cy="22415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句子润色与优化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70" name="Shape 11"/>
          <p:cNvSpPr/>
          <p:nvPr/>
        </p:nvSpPr>
        <p:spPr>
          <a:xfrm>
            <a:off x="653984" y="2578414"/>
            <a:ext cx="130795" cy="149480"/>
          </a:xfrm>
          <a:custGeom>
            <a:avLst/>
            <a:gdLst/>
            <a:ahLst/>
            <a:cxnLst/>
            <a:rect l="l" t="t" r="r" b="b"/>
            <a:pathLst>
              <a:path w="130795" h="149480">
                <a:moveTo>
                  <a:pt x="126942" y="20466"/>
                </a:moveTo>
                <a:cubicBezTo>
                  <a:pt x="131117" y="23502"/>
                  <a:pt x="132051" y="29341"/>
                  <a:pt x="129014" y="33516"/>
                </a:cubicBezTo>
                <a:lnTo>
                  <a:pt x="54274" y="136284"/>
                </a:lnTo>
                <a:cubicBezTo>
                  <a:pt x="52669" y="138503"/>
                  <a:pt x="50187" y="139875"/>
                  <a:pt x="47443" y="140109"/>
                </a:cubicBezTo>
                <a:cubicBezTo>
                  <a:pt x="44698" y="140342"/>
                  <a:pt x="42041" y="139320"/>
                  <a:pt x="40114" y="137394"/>
                </a:cubicBezTo>
                <a:lnTo>
                  <a:pt x="2744" y="100023"/>
                </a:lnTo>
                <a:cubicBezTo>
                  <a:pt x="-905" y="96374"/>
                  <a:pt x="-905" y="90447"/>
                  <a:pt x="2744" y="86798"/>
                </a:cubicBezTo>
                <a:cubicBezTo>
                  <a:pt x="6394" y="83149"/>
                  <a:pt x="12320" y="83149"/>
                  <a:pt x="15970" y="86798"/>
                </a:cubicBezTo>
                <a:lnTo>
                  <a:pt x="45603" y="116431"/>
                </a:lnTo>
                <a:lnTo>
                  <a:pt x="113920" y="22510"/>
                </a:lnTo>
                <a:cubicBezTo>
                  <a:pt x="116957" y="18335"/>
                  <a:pt x="122796" y="17400"/>
                  <a:pt x="126971" y="20437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71" name="Text 12"/>
          <p:cNvSpPr/>
          <p:nvPr/>
        </p:nvSpPr>
        <p:spPr>
          <a:xfrm>
            <a:off x="887730" y="2541270"/>
            <a:ext cx="1511935" cy="22415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中英文翻译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72" name="Shape 13"/>
          <p:cNvSpPr/>
          <p:nvPr/>
        </p:nvSpPr>
        <p:spPr>
          <a:xfrm>
            <a:off x="653984" y="2877375"/>
            <a:ext cx="130795" cy="149480"/>
          </a:xfrm>
          <a:custGeom>
            <a:avLst/>
            <a:gdLst/>
            <a:ahLst/>
            <a:cxnLst/>
            <a:rect l="l" t="t" r="r" b="b"/>
            <a:pathLst>
              <a:path w="130795" h="149480">
                <a:moveTo>
                  <a:pt x="126942" y="20466"/>
                </a:moveTo>
                <a:cubicBezTo>
                  <a:pt x="131117" y="23502"/>
                  <a:pt x="132051" y="29341"/>
                  <a:pt x="129014" y="33516"/>
                </a:cubicBezTo>
                <a:lnTo>
                  <a:pt x="54274" y="136284"/>
                </a:lnTo>
                <a:cubicBezTo>
                  <a:pt x="52669" y="138503"/>
                  <a:pt x="50187" y="139875"/>
                  <a:pt x="47443" y="140109"/>
                </a:cubicBezTo>
                <a:cubicBezTo>
                  <a:pt x="44698" y="140342"/>
                  <a:pt x="42041" y="139320"/>
                  <a:pt x="40114" y="137394"/>
                </a:cubicBezTo>
                <a:lnTo>
                  <a:pt x="2744" y="100023"/>
                </a:lnTo>
                <a:cubicBezTo>
                  <a:pt x="-905" y="96374"/>
                  <a:pt x="-905" y="90447"/>
                  <a:pt x="2744" y="86798"/>
                </a:cubicBezTo>
                <a:cubicBezTo>
                  <a:pt x="6394" y="83149"/>
                  <a:pt x="12320" y="83149"/>
                  <a:pt x="15970" y="86798"/>
                </a:cubicBezTo>
                <a:lnTo>
                  <a:pt x="45603" y="116431"/>
                </a:lnTo>
                <a:lnTo>
                  <a:pt x="113920" y="22510"/>
                </a:lnTo>
                <a:cubicBezTo>
                  <a:pt x="116957" y="18335"/>
                  <a:pt x="122796" y="17400"/>
                  <a:pt x="126971" y="20437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73" name="Text 14"/>
          <p:cNvSpPr/>
          <p:nvPr/>
        </p:nvSpPr>
        <p:spPr>
          <a:xfrm>
            <a:off x="887730" y="2839720"/>
            <a:ext cx="1512570" cy="22415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语法错误检查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74" name="Shape 15"/>
          <p:cNvSpPr/>
          <p:nvPr/>
        </p:nvSpPr>
        <p:spPr>
          <a:xfrm>
            <a:off x="4334551" y="1681531"/>
            <a:ext cx="37370" cy="1382694"/>
          </a:xfrm>
          <a:custGeom>
            <a:avLst/>
            <a:gdLst/>
            <a:ahLst/>
            <a:cxnLst/>
            <a:rect l="l" t="t" r="r" b="b"/>
            <a:pathLst>
              <a:path w="37370" h="1382694">
                <a:moveTo>
                  <a:pt x="0" y="0"/>
                </a:moveTo>
                <a:lnTo>
                  <a:pt x="37370" y="0"/>
                </a:lnTo>
                <a:lnTo>
                  <a:pt x="37370" y="1382694"/>
                </a:lnTo>
                <a:lnTo>
                  <a:pt x="0" y="1382694"/>
                </a:lnTo>
                <a:lnTo>
                  <a:pt x="0" y="0"/>
                </a:lnTo>
                <a:close/>
              </a:path>
            </a:pathLst>
          </a:custGeom>
          <a:solidFill>
            <a:srgbClr val="E49B5D"/>
          </a:solidFill>
        </p:spPr>
      </p:sp>
      <p:sp>
        <p:nvSpPr>
          <p:cNvPr id="75" name="Shape 16"/>
          <p:cNvSpPr/>
          <p:nvPr/>
        </p:nvSpPr>
        <p:spPr>
          <a:xfrm>
            <a:off x="4502717" y="1681531"/>
            <a:ext cx="448441" cy="448441"/>
          </a:xfrm>
          <a:custGeom>
            <a:avLst/>
            <a:gdLst/>
            <a:ahLst/>
            <a:cxnLst/>
            <a:rect l="l" t="t" r="r" b="b"/>
            <a:pathLst>
              <a:path w="448441" h="448441">
                <a:moveTo>
                  <a:pt x="224221" y="0"/>
                </a:moveTo>
                <a:lnTo>
                  <a:pt x="224221" y="0"/>
                </a:lnTo>
                <a:cubicBezTo>
                  <a:pt x="347971" y="0"/>
                  <a:pt x="448441" y="100470"/>
                  <a:pt x="448441" y="224221"/>
                </a:cubicBezTo>
                <a:lnTo>
                  <a:pt x="448441" y="224221"/>
                </a:lnTo>
                <a:cubicBezTo>
                  <a:pt x="448441" y="347971"/>
                  <a:pt x="347971" y="448441"/>
                  <a:pt x="224221" y="448441"/>
                </a:cubicBezTo>
                <a:lnTo>
                  <a:pt x="224221" y="448441"/>
                </a:lnTo>
                <a:cubicBezTo>
                  <a:pt x="100470" y="448441"/>
                  <a:pt x="0" y="347971"/>
                  <a:pt x="0" y="224221"/>
                </a:cubicBezTo>
                <a:lnTo>
                  <a:pt x="0" y="224221"/>
                </a:lnTo>
                <a:cubicBezTo>
                  <a:pt x="0" y="100470"/>
                  <a:pt x="100470" y="0"/>
                  <a:pt x="224221" y="0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76" name="Shape 17"/>
          <p:cNvSpPr/>
          <p:nvPr/>
        </p:nvSpPr>
        <p:spPr>
          <a:xfrm>
            <a:off x="4645191" y="1812326"/>
            <a:ext cx="163494" cy="186851"/>
          </a:xfrm>
          <a:custGeom>
            <a:avLst/>
            <a:gdLst/>
            <a:ahLst/>
            <a:cxnLst/>
            <a:rect l="l" t="t" r="r" b="b"/>
            <a:pathLst>
              <a:path w="163494" h="186851">
                <a:moveTo>
                  <a:pt x="23356" y="11678"/>
                </a:moveTo>
                <a:cubicBezTo>
                  <a:pt x="10474" y="11678"/>
                  <a:pt x="0" y="22152"/>
                  <a:pt x="0" y="35034"/>
                </a:cubicBezTo>
                <a:lnTo>
                  <a:pt x="0" y="151816"/>
                </a:lnTo>
                <a:cubicBezTo>
                  <a:pt x="0" y="164699"/>
                  <a:pt x="10474" y="175172"/>
                  <a:pt x="23356" y="175172"/>
                </a:cubicBezTo>
                <a:lnTo>
                  <a:pt x="140138" y="175172"/>
                </a:lnTo>
                <a:cubicBezTo>
                  <a:pt x="153020" y="175172"/>
                  <a:pt x="163494" y="164699"/>
                  <a:pt x="163494" y="151816"/>
                </a:cubicBezTo>
                <a:lnTo>
                  <a:pt x="163494" y="35034"/>
                </a:lnTo>
                <a:cubicBezTo>
                  <a:pt x="163494" y="22152"/>
                  <a:pt x="153020" y="11678"/>
                  <a:pt x="140138" y="11678"/>
                </a:cubicBezTo>
                <a:lnTo>
                  <a:pt x="23356" y="11678"/>
                </a:lnTo>
                <a:close/>
                <a:moveTo>
                  <a:pt x="46713" y="40874"/>
                </a:moveTo>
                <a:cubicBezTo>
                  <a:pt x="56381" y="40874"/>
                  <a:pt x="64230" y="48723"/>
                  <a:pt x="64230" y="58391"/>
                </a:cubicBezTo>
                <a:cubicBezTo>
                  <a:pt x="64230" y="68059"/>
                  <a:pt x="56381" y="75908"/>
                  <a:pt x="46713" y="75908"/>
                </a:cubicBezTo>
                <a:cubicBezTo>
                  <a:pt x="37045" y="75908"/>
                  <a:pt x="29195" y="68059"/>
                  <a:pt x="29195" y="58391"/>
                </a:cubicBezTo>
                <a:cubicBezTo>
                  <a:pt x="29195" y="48723"/>
                  <a:pt x="37045" y="40874"/>
                  <a:pt x="46713" y="40874"/>
                </a:cubicBezTo>
                <a:close/>
                <a:moveTo>
                  <a:pt x="99264" y="81747"/>
                </a:moveTo>
                <a:cubicBezTo>
                  <a:pt x="102330" y="81747"/>
                  <a:pt x="105140" y="83353"/>
                  <a:pt x="106746" y="85944"/>
                </a:cubicBezTo>
                <a:lnTo>
                  <a:pt x="138861" y="138496"/>
                </a:lnTo>
                <a:cubicBezTo>
                  <a:pt x="140503" y="141196"/>
                  <a:pt x="140576" y="144590"/>
                  <a:pt x="139043" y="147364"/>
                </a:cubicBezTo>
                <a:cubicBezTo>
                  <a:pt x="137510" y="150137"/>
                  <a:pt x="134554" y="151816"/>
                  <a:pt x="131379" y="151816"/>
                </a:cubicBezTo>
                <a:lnTo>
                  <a:pt x="32115" y="151816"/>
                </a:lnTo>
                <a:cubicBezTo>
                  <a:pt x="28867" y="151816"/>
                  <a:pt x="25838" y="149991"/>
                  <a:pt x="24342" y="147108"/>
                </a:cubicBezTo>
                <a:cubicBezTo>
                  <a:pt x="22845" y="144225"/>
                  <a:pt x="23064" y="140722"/>
                  <a:pt x="24926" y="138058"/>
                </a:cubicBezTo>
                <a:lnTo>
                  <a:pt x="45362" y="108862"/>
                </a:lnTo>
                <a:cubicBezTo>
                  <a:pt x="47005" y="106527"/>
                  <a:pt x="49669" y="105140"/>
                  <a:pt x="52552" y="105140"/>
                </a:cubicBezTo>
                <a:cubicBezTo>
                  <a:pt x="55435" y="105140"/>
                  <a:pt x="58099" y="106527"/>
                  <a:pt x="59741" y="108862"/>
                </a:cubicBezTo>
                <a:lnTo>
                  <a:pt x="69376" y="122657"/>
                </a:lnTo>
                <a:lnTo>
                  <a:pt x="91783" y="85980"/>
                </a:lnTo>
                <a:cubicBezTo>
                  <a:pt x="93389" y="83389"/>
                  <a:pt x="96199" y="81784"/>
                  <a:pt x="99264" y="81784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77" name="Text 18"/>
          <p:cNvSpPr/>
          <p:nvPr/>
        </p:nvSpPr>
        <p:spPr>
          <a:xfrm>
            <a:off x="5063490" y="1774190"/>
            <a:ext cx="1264920" cy="26225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图表绘制</a:t>
            </a:r>
            <a:endParaRPr lang="en-US" sz="20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78" name="Shape 19"/>
          <p:cNvSpPr/>
          <p:nvPr/>
        </p:nvSpPr>
        <p:spPr>
          <a:xfrm>
            <a:off x="4530745" y="2279453"/>
            <a:ext cx="130795" cy="149480"/>
          </a:xfrm>
          <a:custGeom>
            <a:avLst/>
            <a:gdLst/>
            <a:ahLst/>
            <a:cxnLst/>
            <a:rect l="l" t="t" r="r" b="b"/>
            <a:pathLst>
              <a:path w="130795" h="149480">
                <a:moveTo>
                  <a:pt x="126942" y="20466"/>
                </a:moveTo>
                <a:cubicBezTo>
                  <a:pt x="131117" y="23502"/>
                  <a:pt x="132051" y="29341"/>
                  <a:pt x="129014" y="33516"/>
                </a:cubicBezTo>
                <a:lnTo>
                  <a:pt x="54274" y="136284"/>
                </a:lnTo>
                <a:cubicBezTo>
                  <a:pt x="52669" y="138503"/>
                  <a:pt x="50187" y="139875"/>
                  <a:pt x="47443" y="140109"/>
                </a:cubicBezTo>
                <a:cubicBezTo>
                  <a:pt x="44698" y="140342"/>
                  <a:pt x="42041" y="139320"/>
                  <a:pt x="40114" y="137394"/>
                </a:cubicBezTo>
                <a:lnTo>
                  <a:pt x="2744" y="100023"/>
                </a:lnTo>
                <a:cubicBezTo>
                  <a:pt x="-905" y="96374"/>
                  <a:pt x="-905" y="90447"/>
                  <a:pt x="2744" y="86798"/>
                </a:cubicBezTo>
                <a:cubicBezTo>
                  <a:pt x="6394" y="83149"/>
                  <a:pt x="12320" y="83149"/>
                  <a:pt x="15970" y="86798"/>
                </a:cubicBezTo>
                <a:lnTo>
                  <a:pt x="45603" y="116431"/>
                </a:lnTo>
                <a:lnTo>
                  <a:pt x="113920" y="22510"/>
                </a:lnTo>
                <a:cubicBezTo>
                  <a:pt x="116957" y="18335"/>
                  <a:pt x="122796" y="17400"/>
                  <a:pt x="126971" y="20437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79" name="Text 20"/>
          <p:cNvSpPr/>
          <p:nvPr/>
        </p:nvSpPr>
        <p:spPr>
          <a:xfrm>
            <a:off x="4764405" y="2129790"/>
            <a:ext cx="1355090" cy="33655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摘要图生成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80" name="Shape 21"/>
          <p:cNvSpPr/>
          <p:nvPr/>
        </p:nvSpPr>
        <p:spPr>
          <a:xfrm>
            <a:off x="4530745" y="2578414"/>
            <a:ext cx="130795" cy="149480"/>
          </a:xfrm>
          <a:custGeom>
            <a:avLst/>
            <a:gdLst/>
            <a:ahLst/>
            <a:cxnLst/>
            <a:rect l="l" t="t" r="r" b="b"/>
            <a:pathLst>
              <a:path w="130795" h="149480">
                <a:moveTo>
                  <a:pt x="126942" y="20466"/>
                </a:moveTo>
                <a:cubicBezTo>
                  <a:pt x="131117" y="23502"/>
                  <a:pt x="132051" y="29341"/>
                  <a:pt x="129014" y="33516"/>
                </a:cubicBezTo>
                <a:lnTo>
                  <a:pt x="54274" y="136284"/>
                </a:lnTo>
                <a:cubicBezTo>
                  <a:pt x="52669" y="138503"/>
                  <a:pt x="50187" y="139875"/>
                  <a:pt x="47443" y="140109"/>
                </a:cubicBezTo>
                <a:cubicBezTo>
                  <a:pt x="44698" y="140342"/>
                  <a:pt x="42041" y="139320"/>
                  <a:pt x="40114" y="137394"/>
                </a:cubicBezTo>
                <a:lnTo>
                  <a:pt x="2744" y="100023"/>
                </a:lnTo>
                <a:cubicBezTo>
                  <a:pt x="-905" y="96374"/>
                  <a:pt x="-905" y="90447"/>
                  <a:pt x="2744" y="86798"/>
                </a:cubicBezTo>
                <a:cubicBezTo>
                  <a:pt x="6394" y="83149"/>
                  <a:pt x="12320" y="83149"/>
                  <a:pt x="15970" y="86798"/>
                </a:cubicBezTo>
                <a:lnTo>
                  <a:pt x="45603" y="116431"/>
                </a:lnTo>
                <a:lnTo>
                  <a:pt x="113920" y="22510"/>
                </a:lnTo>
                <a:cubicBezTo>
                  <a:pt x="116957" y="18335"/>
                  <a:pt x="122796" y="17400"/>
                  <a:pt x="126971" y="20437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81" name="Text 22"/>
          <p:cNvSpPr/>
          <p:nvPr/>
        </p:nvSpPr>
        <p:spPr>
          <a:xfrm>
            <a:off x="4764405" y="2541270"/>
            <a:ext cx="1564005" cy="22415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机制原理图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82" name="Shape 23"/>
          <p:cNvSpPr/>
          <p:nvPr/>
        </p:nvSpPr>
        <p:spPr>
          <a:xfrm>
            <a:off x="4530745" y="2877375"/>
            <a:ext cx="130795" cy="149480"/>
          </a:xfrm>
          <a:custGeom>
            <a:avLst/>
            <a:gdLst/>
            <a:ahLst/>
            <a:cxnLst/>
            <a:rect l="l" t="t" r="r" b="b"/>
            <a:pathLst>
              <a:path w="130795" h="149480">
                <a:moveTo>
                  <a:pt x="126942" y="20466"/>
                </a:moveTo>
                <a:cubicBezTo>
                  <a:pt x="131117" y="23502"/>
                  <a:pt x="132051" y="29341"/>
                  <a:pt x="129014" y="33516"/>
                </a:cubicBezTo>
                <a:lnTo>
                  <a:pt x="54274" y="136284"/>
                </a:lnTo>
                <a:cubicBezTo>
                  <a:pt x="52669" y="138503"/>
                  <a:pt x="50187" y="139875"/>
                  <a:pt x="47443" y="140109"/>
                </a:cubicBezTo>
                <a:cubicBezTo>
                  <a:pt x="44698" y="140342"/>
                  <a:pt x="42041" y="139320"/>
                  <a:pt x="40114" y="137394"/>
                </a:cubicBezTo>
                <a:lnTo>
                  <a:pt x="2744" y="100023"/>
                </a:lnTo>
                <a:cubicBezTo>
                  <a:pt x="-905" y="96374"/>
                  <a:pt x="-905" y="90447"/>
                  <a:pt x="2744" y="86798"/>
                </a:cubicBezTo>
                <a:cubicBezTo>
                  <a:pt x="6394" y="83149"/>
                  <a:pt x="12320" y="83149"/>
                  <a:pt x="15970" y="86798"/>
                </a:cubicBezTo>
                <a:lnTo>
                  <a:pt x="45603" y="116431"/>
                </a:lnTo>
                <a:lnTo>
                  <a:pt x="113920" y="22510"/>
                </a:lnTo>
                <a:cubicBezTo>
                  <a:pt x="116957" y="18335"/>
                  <a:pt x="122796" y="17400"/>
                  <a:pt x="126971" y="20437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83" name="Text 24"/>
          <p:cNvSpPr/>
          <p:nvPr/>
        </p:nvSpPr>
        <p:spPr>
          <a:xfrm>
            <a:off x="4764405" y="2839720"/>
            <a:ext cx="1355090" cy="22415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数据可视化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84" name="Shape 25"/>
          <p:cNvSpPr/>
          <p:nvPr/>
        </p:nvSpPr>
        <p:spPr>
          <a:xfrm>
            <a:off x="8211312" y="1681531"/>
            <a:ext cx="37370" cy="1382694"/>
          </a:xfrm>
          <a:custGeom>
            <a:avLst/>
            <a:gdLst/>
            <a:ahLst/>
            <a:cxnLst/>
            <a:rect l="l" t="t" r="r" b="b"/>
            <a:pathLst>
              <a:path w="37370" h="1382694">
                <a:moveTo>
                  <a:pt x="0" y="0"/>
                </a:moveTo>
                <a:lnTo>
                  <a:pt x="37370" y="0"/>
                </a:lnTo>
                <a:lnTo>
                  <a:pt x="37370" y="1382694"/>
                </a:lnTo>
                <a:lnTo>
                  <a:pt x="0" y="1382694"/>
                </a:lnTo>
                <a:lnTo>
                  <a:pt x="0" y="0"/>
                </a:lnTo>
                <a:close/>
              </a:path>
            </a:pathLst>
          </a:custGeom>
          <a:solidFill>
            <a:srgbClr val="8696A7"/>
          </a:solidFill>
        </p:spPr>
      </p:sp>
      <p:sp>
        <p:nvSpPr>
          <p:cNvPr id="85" name="Shape 26"/>
          <p:cNvSpPr/>
          <p:nvPr/>
        </p:nvSpPr>
        <p:spPr>
          <a:xfrm>
            <a:off x="8379477" y="1681531"/>
            <a:ext cx="448441" cy="448441"/>
          </a:xfrm>
          <a:custGeom>
            <a:avLst/>
            <a:gdLst/>
            <a:ahLst/>
            <a:cxnLst/>
            <a:rect l="l" t="t" r="r" b="b"/>
            <a:pathLst>
              <a:path w="448441" h="448441">
                <a:moveTo>
                  <a:pt x="224221" y="0"/>
                </a:moveTo>
                <a:lnTo>
                  <a:pt x="224221" y="0"/>
                </a:lnTo>
                <a:cubicBezTo>
                  <a:pt x="347971" y="0"/>
                  <a:pt x="448441" y="100470"/>
                  <a:pt x="448441" y="224221"/>
                </a:cubicBezTo>
                <a:lnTo>
                  <a:pt x="448441" y="224221"/>
                </a:lnTo>
                <a:cubicBezTo>
                  <a:pt x="448441" y="347971"/>
                  <a:pt x="347971" y="448441"/>
                  <a:pt x="224221" y="448441"/>
                </a:cubicBezTo>
                <a:lnTo>
                  <a:pt x="224221" y="448441"/>
                </a:lnTo>
                <a:cubicBezTo>
                  <a:pt x="100470" y="448441"/>
                  <a:pt x="0" y="347971"/>
                  <a:pt x="0" y="224221"/>
                </a:cubicBezTo>
                <a:lnTo>
                  <a:pt x="0" y="224221"/>
                </a:lnTo>
                <a:cubicBezTo>
                  <a:pt x="0" y="100470"/>
                  <a:pt x="100470" y="0"/>
                  <a:pt x="224221" y="0"/>
                </a:cubicBezTo>
                <a:close/>
              </a:path>
            </a:pathLst>
          </a:custGeom>
          <a:solidFill>
            <a:srgbClr val="8696A7"/>
          </a:solidFill>
        </p:spPr>
      </p:sp>
      <p:sp>
        <p:nvSpPr>
          <p:cNvPr id="86" name="Shape 27"/>
          <p:cNvSpPr/>
          <p:nvPr/>
        </p:nvSpPr>
        <p:spPr>
          <a:xfrm>
            <a:off x="8498594" y="1812326"/>
            <a:ext cx="210207" cy="186851"/>
          </a:xfrm>
          <a:custGeom>
            <a:avLst/>
            <a:gdLst/>
            <a:ahLst/>
            <a:cxnLst/>
            <a:rect l="l" t="t" r="r" b="b"/>
            <a:pathLst>
              <a:path w="210207" h="186851">
                <a:moveTo>
                  <a:pt x="131671" y="438"/>
                </a:moveTo>
                <a:cubicBezTo>
                  <a:pt x="125467" y="-1350"/>
                  <a:pt x="119008" y="2263"/>
                  <a:pt x="117220" y="8467"/>
                </a:cubicBezTo>
                <a:lnTo>
                  <a:pt x="70507" y="171961"/>
                </a:lnTo>
                <a:cubicBezTo>
                  <a:pt x="68719" y="178165"/>
                  <a:pt x="72332" y="184624"/>
                  <a:pt x="78536" y="186413"/>
                </a:cubicBezTo>
                <a:cubicBezTo>
                  <a:pt x="84740" y="188201"/>
                  <a:pt x="91199" y="184588"/>
                  <a:pt x="92987" y="178384"/>
                </a:cubicBezTo>
                <a:lnTo>
                  <a:pt x="139700" y="14890"/>
                </a:lnTo>
                <a:cubicBezTo>
                  <a:pt x="141488" y="8686"/>
                  <a:pt x="137875" y="2226"/>
                  <a:pt x="131671" y="438"/>
                </a:cubicBezTo>
                <a:close/>
                <a:moveTo>
                  <a:pt x="155247" y="50107"/>
                </a:moveTo>
                <a:cubicBezTo>
                  <a:pt x="150685" y="54668"/>
                  <a:pt x="150685" y="62077"/>
                  <a:pt x="155247" y="66639"/>
                </a:cubicBezTo>
                <a:lnTo>
                  <a:pt x="182033" y="93425"/>
                </a:lnTo>
                <a:lnTo>
                  <a:pt x="155247" y="120212"/>
                </a:lnTo>
                <a:cubicBezTo>
                  <a:pt x="150685" y="124774"/>
                  <a:pt x="150685" y="132182"/>
                  <a:pt x="155247" y="136744"/>
                </a:cubicBezTo>
                <a:cubicBezTo>
                  <a:pt x="159808" y="141306"/>
                  <a:pt x="167217" y="141306"/>
                  <a:pt x="171778" y="136744"/>
                </a:cubicBezTo>
                <a:lnTo>
                  <a:pt x="206813" y="101709"/>
                </a:lnTo>
                <a:cubicBezTo>
                  <a:pt x="211375" y="97148"/>
                  <a:pt x="211375" y="89739"/>
                  <a:pt x="206813" y="85178"/>
                </a:cubicBezTo>
                <a:lnTo>
                  <a:pt x="171778" y="50143"/>
                </a:lnTo>
                <a:cubicBezTo>
                  <a:pt x="167217" y="45581"/>
                  <a:pt x="159808" y="45581"/>
                  <a:pt x="155247" y="50143"/>
                </a:cubicBezTo>
                <a:close/>
                <a:moveTo>
                  <a:pt x="54997" y="50107"/>
                </a:moveTo>
                <a:cubicBezTo>
                  <a:pt x="50435" y="45545"/>
                  <a:pt x="43027" y="45545"/>
                  <a:pt x="38465" y="50107"/>
                </a:cubicBezTo>
                <a:lnTo>
                  <a:pt x="3430" y="85141"/>
                </a:lnTo>
                <a:cubicBezTo>
                  <a:pt x="-1131" y="89703"/>
                  <a:pt x="-1131" y="97111"/>
                  <a:pt x="3430" y="101673"/>
                </a:cubicBezTo>
                <a:lnTo>
                  <a:pt x="38465" y="136707"/>
                </a:lnTo>
                <a:cubicBezTo>
                  <a:pt x="43027" y="141269"/>
                  <a:pt x="50435" y="141269"/>
                  <a:pt x="54997" y="136707"/>
                </a:cubicBezTo>
                <a:cubicBezTo>
                  <a:pt x="59559" y="132146"/>
                  <a:pt x="59559" y="124737"/>
                  <a:pt x="54997" y="120176"/>
                </a:cubicBezTo>
                <a:lnTo>
                  <a:pt x="28210" y="93425"/>
                </a:lnTo>
                <a:lnTo>
                  <a:pt x="54960" y="66639"/>
                </a:lnTo>
                <a:cubicBezTo>
                  <a:pt x="59522" y="62077"/>
                  <a:pt x="59522" y="54668"/>
                  <a:pt x="54960" y="50107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87" name="Text 28"/>
          <p:cNvSpPr/>
          <p:nvPr/>
        </p:nvSpPr>
        <p:spPr>
          <a:xfrm>
            <a:off x="8940165" y="1680845"/>
            <a:ext cx="136525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编程辅助</a:t>
            </a:r>
            <a:endParaRPr lang="en-US" sz="20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88" name="Shape 29"/>
          <p:cNvSpPr/>
          <p:nvPr/>
        </p:nvSpPr>
        <p:spPr>
          <a:xfrm>
            <a:off x="8407505" y="2279453"/>
            <a:ext cx="130795" cy="149480"/>
          </a:xfrm>
          <a:custGeom>
            <a:avLst/>
            <a:gdLst/>
            <a:ahLst/>
            <a:cxnLst/>
            <a:rect l="l" t="t" r="r" b="b"/>
            <a:pathLst>
              <a:path w="130795" h="149480">
                <a:moveTo>
                  <a:pt x="126942" y="20466"/>
                </a:moveTo>
                <a:cubicBezTo>
                  <a:pt x="131117" y="23502"/>
                  <a:pt x="132051" y="29341"/>
                  <a:pt x="129014" y="33516"/>
                </a:cubicBezTo>
                <a:lnTo>
                  <a:pt x="54274" y="136284"/>
                </a:lnTo>
                <a:cubicBezTo>
                  <a:pt x="52669" y="138503"/>
                  <a:pt x="50187" y="139875"/>
                  <a:pt x="47443" y="140109"/>
                </a:cubicBezTo>
                <a:cubicBezTo>
                  <a:pt x="44698" y="140342"/>
                  <a:pt x="42041" y="139320"/>
                  <a:pt x="40114" y="137394"/>
                </a:cubicBezTo>
                <a:lnTo>
                  <a:pt x="2744" y="100023"/>
                </a:lnTo>
                <a:cubicBezTo>
                  <a:pt x="-905" y="96374"/>
                  <a:pt x="-905" y="90447"/>
                  <a:pt x="2744" y="86798"/>
                </a:cubicBezTo>
                <a:cubicBezTo>
                  <a:pt x="6394" y="83149"/>
                  <a:pt x="12320" y="83149"/>
                  <a:pt x="15970" y="86798"/>
                </a:cubicBezTo>
                <a:lnTo>
                  <a:pt x="45603" y="116431"/>
                </a:lnTo>
                <a:lnTo>
                  <a:pt x="113920" y="22510"/>
                </a:lnTo>
                <a:cubicBezTo>
                  <a:pt x="116957" y="18335"/>
                  <a:pt x="122796" y="17400"/>
                  <a:pt x="126971" y="20437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89" name="Text 30"/>
          <p:cNvSpPr/>
          <p:nvPr/>
        </p:nvSpPr>
        <p:spPr>
          <a:xfrm>
            <a:off x="8641080" y="2129790"/>
            <a:ext cx="1664335" cy="33655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代码生成与调试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90" name="Shape 31"/>
          <p:cNvSpPr/>
          <p:nvPr/>
        </p:nvSpPr>
        <p:spPr>
          <a:xfrm>
            <a:off x="8407505" y="2578414"/>
            <a:ext cx="130795" cy="149480"/>
          </a:xfrm>
          <a:custGeom>
            <a:avLst/>
            <a:gdLst/>
            <a:ahLst/>
            <a:cxnLst/>
            <a:rect l="l" t="t" r="r" b="b"/>
            <a:pathLst>
              <a:path w="130795" h="149480">
                <a:moveTo>
                  <a:pt x="126942" y="20466"/>
                </a:moveTo>
                <a:cubicBezTo>
                  <a:pt x="131117" y="23502"/>
                  <a:pt x="132051" y="29341"/>
                  <a:pt x="129014" y="33516"/>
                </a:cubicBezTo>
                <a:lnTo>
                  <a:pt x="54274" y="136284"/>
                </a:lnTo>
                <a:cubicBezTo>
                  <a:pt x="52669" y="138503"/>
                  <a:pt x="50187" y="139875"/>
                  <a:pt x="47443" y="140109"/>
                </a:cubicBezTo>
                <a:cubicBezTo>
                  <a:pt x="44698" y="140342"/>
                  <a:pt x="42041" y="139320"/>
                  <a:pt x="40114" y="137394"/>
                </a:cubicBezTo>
                <a:lnTo>
                  <a:pt x="2744" y="100023"/>
                </a:lnTo>
                <a:cubicBezTo>
                  <a:pt x="-905" y="96374"/>
                  <a:pt x="-905" y="90447"/>
                  <a:pt x="2744" y="86798"/>
                </a:cubicBezTo>
                <a:cubicBezTo>
                  <a:pt x="6394" y="83149"/>
                  <a:pt x="12320" y="83149"/>
                  <a:pt x="15970" y="86798"/>
                </a:cubicBezTo>
                <a:lnTo>
                  <a:pt x="45603" y="116431"/>
                </a:lnTo>
                <a:lnTo>
                  <a:pt x="113920" y="22510"/>
                </a:lnTo>
                <a:cubicBezTo>
                  <a:pt x="116957" y="18335"/>
                  <a:pt x="122796" y="17400"/>
                  <a:pt x="126971" y="20437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91" name="Text 32"/>
          <p:cNvSpPr/>
          <p:nvPr/>
        </p:nvSpPr>
        <p:spPr>
          <a:xfrm>
            <a:off x="8641080" y="2541270"/>
            <a:ext cx="1664335" cy="22415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算法解释与优化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92" name="Shape 33"/>
          <p:cNvSpPr/>
          <p:nvPr/>
        </p:nvSpPr>
        <p:spPr>
          <a:xfrm>
            <a:off x="8407505" y="2877375"/>
            <a:ext cx="130795" cy="149480"/>
          </a:xfrm>
          <a:custGeom>
            <a:avLst/>
            <a:gdLst/>
            <a:ahLst/>
            <a:cxnLst/>
            <a:rect l="l" t="t" r="r" b="b"/>
            <a:pathLst>
              <a:path w="130795" h="149480">
                <a:moveTo>
                  <a:pt x="126942" y="20466"/>
                </a:moveTo>
                <a:cubicBezTo>
                  <a:pt x="131117" y="23502"/>
                  <a:pt x="132051" y="29341"/>
                  <a:pt x="129014" y="33516"/>
                </a:cubicBezTo>
                <a:lnTo>
                  <a:pt x="54274" y="136284"/>
                </a:lnTo>
                <a:cubicBezTo>
                  <a:pt x="52669" y="138503"/>
                  <a:pt x="50187" y="139875"/>
                  <a:pt x="47443" y="140109"/>
                </a:cubicBezTo>
                <a:cubicBezTo>
                  <a:pt x="44698" y="140342"/>
                  <a:pt x="42041" y="139320"/>
                  <a:pt x="40114" y="137394"/>
                </a:cubicBezTo>
                <a:lnTo>
                  <a:pt x="2744" y="100023"/>
                </a:lnTo>
                <a:cubicBezTo>
                  <a:pt x="-905" y="96374"/>
                  <a:pt x="-905" y="90447"/>
                  <a:pt x="2744" y="86798"/>
                </a:cubicBezTo>
                <a:cubicBezTo>
                  <a:pt x="6394" y="83149"/>
                  <a:pt x="12320" y="83149"/>
                  <a:pt x="15970" y="86798"/>
                </a:cubicBezTo>
                <a:lnTo>
                  <a:pt x="45603" y="116431"/>
                </a:lnTo>
                <a:lnTo>
                  <a:pt x="113920" y="22510"/>
                </a:lnTo>
                <a:cubicBezTo>
                  <a:pt x="116957" y="18335"/>
                  <a:pt x="122796" y="17400"/>
                  <a:pt x="126971" y="20437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93" name="Text 34"/>
          <p:cNvSpPr/>
          <p:nvPr/>
        </p:nvSpPr>
        <p:spPr>
          <a:xfrm>
            <a:off x="8641080" y="2839720"/>
            <a:ext cx="1804035" cy="22415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方正楷体_GBK" panose="03000509000000000000" charset="-122"/>
              </a:rPr>
              <a:t>bug修复与改进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方正楷体_GBK" panose="03000509000000000000" charset="-122"/>
            </a:endParaRPr>
          </a:p>
        </p:txBody>
      </p:sp>
      <p:sp>
        <p:nvSpPr>
          <p:cNvPr id="94" name="Shape 35"/>
          <p:cNvSpPr/>
          <p:nvPr/>
        </p:nvSpPr>
        <p:spPr>
          <a:xfrm>
            <a:off x="495161" y="3325816"/>
            <a:ext cx="168166" cy="224221"/>
          </a:xfrm>
          <a:custGeom>
            <a:avLst/>
            <a:gdLst/>
            <a:ahLst/>
            <a:cxnLst/>
            <a:rect l="l" t="t" r="r" b="b"/>
            <a:pathLst>
              <a:path w="168166" h="224221">
                <a:moveTo>
                  <a:pt x="128270" y="168166"/>
                </a:moveTo>
                <a:cubicBezTo>
                  <a:pt x="131467" y="158400"/>
                  <a:pt x="137861" y="149553"/>
                  <a:pt x="145087" y="141933"/>
                </a:cubicBezTo>
                <a:cubicBezTo>
                  <a:pt x="159407" y="126869"/>
                  <a:pt x="168166" y="106505"/>
                  <a:pt x="168166" y="84083"/>
                </a:cubicBezTo>
                <a:cubicBezTo>
                  <a:pt x="168166" y="37662"/>
                  <a:pt x="130503" y="0"/>
                  <a:pt x="84083" y="0"/>
                </a:cubicBezTo>
                <a:cubicBezTo>
                  <a:pt x="37662" y="0"/>
                  <a:pt x="0" y="37662"/>
                  <a:pt x="0" y="84083"/>
                </a:cubicBezTo>
                <a:cubicBezTo>
                  <a:pt x="0" y="106505"/>
                  <a:pt x="8759" y="126869"/>
                  <a:pt x="23079" y="141933"/>
                </a:cubicBezTo>
                <a:cubicBezTo>
                  <a:pt x="30305" y="149553"/>
                  <a:pt x="36742" y="158400"/>
                  <a:pt x="39896" y="168166"/>
                </a:cubicBezTo>
                <a:lnTo>
                  <a:pt x="128226" y="168166"/>
                </a:lnTo>
                <a:close/>
                <a:moveTo>
                  <a:pt x="126124" y="189186"/>
                </a:moveTo>
                <a:lnTo>
                  <a:pt x="42041" y="189186"/>
                </a:lnTo>
                <a:lnTo>
                  <a:pt x="42041" y="196193"/>
                </a:lnTo>
                <a:cubicBezTo>
                  <a:pt x="42041" y="215550"/>
                  <a:pt x="57719" y="231228"/>
                  <a:pt x="77076" y="231228"/>
                </a:cubicBezTo>
                <a:lnTo>
                  <a:pt x="91090" y="231228"/>
                </a:lnTo>
                <a:cubicBezTo>
                  <a:pt x="110446" y="231228"/>
                  <a:pt x="126124" y="215550"/>
                  <a:pt x="126124" y="196193"/>
                </a:cubicBezTo>
                <a:lnTo>
                  <a:pt x="126124" y="189186"/>
                </a:lnTo>
                <a:close/>
                <a:moveTo>
                  <a:pt x="80579" y="49048"/>
                </a:moveTo>
                <a:cubicBezTo>
                  <a:pt x="63150" y="49048"/>
                  <a:pt x="49048" y="63150"/>
                  <a:pt x="49048" y="80579"/>
                </a:cubicBezTo>
                <a:cubicBezTo>
                  <a:pt x="49048" y="86404"/>
                  <a:pt x="44362" y="91090"/>
                  <a:pt x="38538" y="91090"/>
                </a:cubicBezTo>
                <a:cubicBezTo>
                  <a:pt x="32713" y="91090"/>
                  <a:pt x="28028" y="86404"/>
                  <a:pt x="28028" y="80579"/>
                </a:cubicBezTo>
                <a:cubicBezTo>
                  <a:pt x="28028" y="51544"/>
                  <a:pt x="51544" y="28028"/>
                  <a:pt x="80579" y="28028"/>
                </a:cubicBezTo>
                <a:cubicBezTo>
                  <a:pt x="86404" y="28028"/>
                  <a:pt x="91090" y="32713"/>
                  <a:pt x="91090" y="38538"/>
                </a:cubicBezTo>
                <a:cubicBezTo>
                  <a:pt x="91090" y="44362"/>
                  <a:pt x="86404" y="49048"/>
                  <a:pt x="80579" y="49048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95" name="Text 36"/>
          <p:cNvSpPr/>
          <p:nvPr/>
        </p:nvSpPr>
        <p:spPr>
          <a:xfrm>
            <a:off x="719382" y="3288446"/>
            <a:ext cx="11276432" cy="298961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方正楷体_GBK" panose="03000509000000000000" charset="-122"/>
              </a:rPr>
              <a:t>用好AI的核心要点</a:t>
            </a:r>
            <a:endParaRPr lang="en-US" sz="24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方正楷体_GBK" panose="03000509000000000000" charset="-122"/>
            </a:endParaRPr>
          </a:p>
        </p:txBody>
      </p:sp>
      <p:sp>
        <p:nvSpPr>
          <p:cNvPr id="96" name="Shape 37"/>
          <p:cNvSpPr/>
          <p:nvPr/>
        </p:nvSpPr>
        <p:spPr>
          <a:xfrm>
            <a:off x="457791" y="3736887"/>
            <a:ext cx="37370" cy="597922"/>
          </a:xfrm>
          <a:custGeom>
            <a:avLst/>
            <a:gdLst/>
            <a:ahLst/>
            <a:cxnLst/>
            <a:rect l="l" t="t" r="r" b="b"/>
            <a:pathLst>
              <a:path w="37370" h="597922">
                <a:moveTo>
                  <a:pt x="0" y="0"/>
                </a:moveTo>
                <a:lnTo>
                  <a:pt x="37370" y="0"/>
                </a:lnTo>
                <a:lnTo>
                  <a:pt x="37370" y="597922"/>
                </a:lnTo>
                <a:lnTo>
                  <a:pt x="0" y="597922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97" name="Text 38"/>
          <p:cNvSpPr/>
          <p:nvPr/>
        </p:nvSpPr>
        <p:spPr>
          <a:xfrm>
            <a:off x="625957" y="3736887"/>
            <a:ext cx="5512092" cy="261591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明确指令</a:t>
            </a:r>
            <a:endParaRPr lang="en-US" sz="20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98" name="Text 39"/>
          <p:cNvSpPr/>
          <p:nvPr/>
        </p:nvSpPr>
        <p:spPr>
          <a:xfrm>
            <a:off x="625957" y="4110589"/>
            <a:ext cx="5493407" cy="224221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方正楷体_GBK" panose="03000509000000000000" charset="-122"/>
              </a:rPr>
              <a:t>给AI清晰、具体的指令，告诉它你需要的风格、格式和重点。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方正楷体_GBK" panose="03000509000000000000" charset="-122"/>
            </a:endParaRPr>
          </a:p>
        </p:txBody>
      </p:sp>
      <p:sp>
        <p:nvSpPr>
          <p:cNvPr id="99" name="Shape 40"/>
          <p:cNvSpPr/>
          <p:nvPr/>
        </p:nvSpPr>
        <p:spPr>
          <a:xfrm>
            <a:off x="6291616" y="3736887"/>
            <a:ext cx="37370" cy="597922"/>
          </a:xfrm>
          <a:custGeom>
            <a:avLst/>
            <a:gdLst/>
            <a:ahLst/>
            <a:cxnLst/>
            <a:rect l="l" t="t" r="r" b="b"/>
            <a:pathLst>
              <a:path w="37370" h="597922">
                <a:moveTo>
                  <a:pt x="0" y="0"/>
                </a:moveTo>
                <a:lnTo>
                  <a:pt x="37370" y="0"/>
                </a:lnTo>
                <a:lnTo>
                  <a:pt x="37370" y="597922"/>
                </a:lnTo>
                <a:lnTo>
                  <a:pt x="0" y="597922"/>
                </a:lnTo>
                <a:lnTo>
                  <a:pt x="0" y="0"/>
                </a:lnTo>
                <a:close/>
              </a:path>
            </a:pathLst>
          </a:custGeom>
          <a:solidFill>
            <a:srgbClr val="E49B5D"/>
          </a:solidFill>
        </p:spPr>
      </p:sp>
      <p:sp>
        <p:nvSpPr>
          <p:cNvPr id="100" name="Text 41"/>
          <p:cNvSpPr/>
          <p:nvPr/>
        </p:nvSpPr>
        <p:spPr>
          <a:xfrm>
            <a:off x="6459782" y="3736887"/>
            <a:ext cx="5512092" cy="261591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人工审核</a:t>
            </a:r>
            <a:endParaRPr lang="en-US" sz="20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101" name="Text 42"/>
          <p:cNvSpPr/>
          <p:nvPr/>
        </p:nvSpPr>
        <p:spPr>
          <a:xfrm>
            <a:off x="6459782" y="4110589"/>
            <a:ext cx="5493407" cy="224221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方正楷体_GBK" panose="03000509000000000000" charset="-122"/>
              </a:rPr>
              <a:t>AI生成的内容需要人工检查和修改，确保准确性和专业性。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方正楷体_GBK" panose="03000509000000000000" charset="-122"/>
            </a:endParaRPr>
          </a:p>
        </p:txBody>
      </p:sp>
      <p:sp>
        <p:nvSpPr>
          <p:cNvPr id="102" name="Shape 43"/>
          <p:cNvSpPr/>
          <p:nvPr/>
        </p:nvSpPr>
        <p:spPr>
          <a:xfrm>
            <a:off x="457791" y="4559030"/>
            <a:ext cx="37370" cy="597922"/>
          </a:xfrm>
          <a:custGeom>
            <a:avLst/>
            <a:gdLst/>
            <a:ahLst/>
            <a:cxnLst/>
            <a:rect l="l" t="t" r="r" b="b"/>
            <a:pathLst>
              <a:path w="37370" h="597922">
                <a:moveTo>
                  <a:pt x="0" y="0"/>
                </a:moveTo>
                <a:lnTo>
                  <a:pt x="37370" y="0"/>
                </a:lnTo>
                <a:lnTo>
                  <a:pt x="37370" y="597922"/>
                </a:lnTo>
                <a:lnTo>
                  <a:pt x="0" y="597922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103" name="Text 44"/>
          <p:cNvSpPr/>
          <p:nvPr/>
        </p:nvSpPr>
        <p:spPr>
          <a:xfrm>
            <a:off x="625957" y="4559030"/>
            <a:ext cx="5512092" cy="261591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迭代优化</a:t>
            </a:r>
            <a:endParaRPr lang="en-US" sz="20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104" name="Text 45"/>
          <p:cNvSpPr/>
          <p:nvPr/>
        </p:nvSpPr>
        <p:spPr>
          <a:xfrm>
            <a:off x="625957" y="4932731"/>
            <a:ext cx="5493407" cy="224221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多次尝试不同指令，不断优化输出结果，直到满意为止。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105" name="Shape 46"/>
          <p:cNvSpPr/>
          <p:nvPr/>
        </p:nvSpPr>
        <p:spPr>
          <a:xfrm>
            <a:off x="6291616" y="4559030"/>
            <a:ext cx="37370" cy="597922"/>
          </a:xfrm>
          <a:custGeom>
            <a:avLst/>
            <a:gdLst/>
            <a:ahLst/>
            <a:cxnLst/>
            <a:rect l="l" t="t" r="r" b="b"/>
            <a:pathLst>
              <a:path w="37370" h="597922">
                <a:moveTo>
                  <a:pt x="0" y="0"/>
                </a:moveTo>
                <a:lnTo>
                  <a:pt x="37370" y="0"/>
                </a:lnTo>
                <a:lnTo>
                  <a:pt x="37370" y="597922"/>
                </a:lnTo>
                <a:lnTo>
                  <a:pt x="0" y="597922"/>
                </a:lnTo>
                <a:lnTo>
                  <a:pt x="0" y="0"/>
                </a:lnTo>
                <a:close/>
              </a:path>
            </a:pathLst>
          </a:custGeom>
          <a:solidFill>
            <a:srgbClr val="E49B5D"/>
          </a:solidFill>
        </p:spPr>
      </p:sp>
      <p:sp>
        <p:nvSpPr>
          <p:cNvPr id="106" name="Text 47"/>
          <p:cNvSpPr/>
          <p:nvPr/>
        </p:nvSpPr>
        <p:spPr>
          <a:xfrm>
            <a:off x="6459782" y="4559030"/>
            <a:ext cx="5512092" cy="261591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MiSans" pitchFamily="34" charset="-120"/>
              </a:rPr>
              <a:t>善用资源</a:t>
            </a:r>
            <a:endParaRPr lang="en-US" sz="2000" b="1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MiSans" pitchFamily="34" charset="-120"/>
            </a:endParaRPr>
          </a:p>
        </p:txBody>
      </p:sp>
      <p:sp>
        <p:nvSpPr>
          <p:cNvPr id="107" name="Text 48"/>
          <p:cNvSpPr/>
          <p:nvPr/>
        </p:nvSpPr>
        <p:spPr>
          <a:xfrm>
            <a:off x="6459782" y="4932731"/>
            <a:ext cx="5493407" cy="224221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方正楷体_GBK" panose="03000509000000000000" charset="-122"/>
              </a:rPr>
              <a:t>除了AI，还要利用好网上的模板、教程和开源代码。</a:t>
            </a:r>
            <a:endParaRPr lang="en-US" sz="1600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方正楷体_GBK" panose="03000509000000000000" charset="-122"/>
            </a:endParaRPr>
          </a:p>
        </p:txBody>
      </p:sp>
      <p:sp>
        <p:nvSpPr>
          <p:cNvPr id="108" name="Shape 49"/>
          <p:cNvSpPr/>
          <p:nvPr/>
        </p:nvSpPr>
        <p:spPr>
          <a:xfrm>
            <a:off x="439106" y="5381172"/>
            <a:ext cx="11444598" cy="803457"/>
          </a:xfrm>
          <a:custGeom>
            <a:avLst/>
            <a:gdLst/>
            <a:ahLst/>
            <a:cxnLst/>
            <a:rect l="l" t="t" r="r" b="b"/>
            <a:pathLst>
              <a:path w="11444598" h="803457">
                <a:moveTo>
                  <a:pt x="74738" y="0"/>
                </a:moveTo>
                <a:lnTo>
                  <a:pt x="11369860" y="0"/>
                </a:lnTo>
                <a:cubicBezTo>
                  <a:pt x="11411109" y="0"/>
                  <a:pt x="11444598" y="33489"/>
                  <a:pt x="11444598" y="74738"/>
                </a:cubicBezTo>
                <a:lnTo>
                  <a:pt x="11444598" y="728720"/>
                </a:lnTo>
                <a:cubicBezTo>
                  <a:pt x="11444598" y="769996"/>
                  <a:pt x="11411137" y="803457"/>
                  <a:pt x="11369860" y="803457"/>
                </a:cubicBezTo>
                <a:lnTo>
                  <a:pt x="74738" y="803457"/>
                </a:lnTo>
                <a:cubicBezTo>
                  <a:pt x="33461" y="803457"/>
                  <a:pt x="0" y="769996"/>
                  <a:pt x="0" y="728720"/>
                </a:cubicBezTo>
                <a:lnTo>
                  <a:pt x="0" y="74738"/>
                </a:lnTo>
                <a:cubicBezTo>
                  <a:pt x="0" y="33489"/>
                  <a:pt x="33489" y="0"/>
                  <a:pt x="7473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09" name="Shape 50"/>
          <p:cNvSpPr/>
          <p:nvPr/>
        </p:nvSpPr>
        <p:spPr>
          <a:xfrm>
            <a:off x="611943" y="5568023"/>
            <a:ext cx="186851" cy="186851"/>
          </a:xfrm>
          <a:custGeom>
            <a:avLst/>
            <a:gdLst/>
            <a:ahLst/>
            <a:cxnLst/>
            <a:rect l="l" t="t" r="r" b="b"/>
            <a:pathLst>
              <a:path w="186851" h="186851">
                <a:moveTo>
                  <a:pt x="46713" y="116782"/>
                </a:moveTo>
                <a:lnTo>
                  <a:pt x="8941" y="116782"/>
                </a:lnTo>
                <a:cubicBezTo>
                  <a:pt x="-146" y="116782"/>
                  <a:pt x="-5730" y="106892"/>
                  <a:pt x="-1058" y="99082"/>
                </a:cubicBezTo>
                <a:lnTo>
                  <a:pt x="18247" y="66894"/>
                </a:lnTo>
                <a:cubicBezTo>
                  <a:pt x="21422" y="61602"/>
                  <a:pt x="27115" y="58391"/>
                  <a:pt x="33283" y="58391"/>
                </a:cubicBezTo>
                <a:lnTo>
                  <a:pt x="67952" y="58391"/>
                </a:lnTo>
                <a:cubicBezTo>
                  <a:pt x="95724" y="11350"/>
                  <a:pt x="137145" y="8978"/>
                  <a:pt x="164845" y="13028"/>
                </a:cubicBezTo>
                <a:cubicBezTo>
                  <a:pt x="169516" y="13722"/>
                  <a:pt x="173165" y="17371"/>
                  <a:pt x="173822" y="22006"/>
                </a:cubicBezTo>
                <a:cubicBezTo>
                  <a:pt x="177873" y="49705"/>
                  <a:pt x="175501" y="91126"/>
                  <a:pt x="128460" y="118898"/>
                </a:cubicBezTo>
                <a:lnTo>
                  <a:pt x="128460" y="153568"/>
                </a:lnTo>
                <a:cubicBezTo>
                  <a:pt x="128460" y="159735"/>
                  <a:pt x="125248" y="165428"/>
                  <a:pt x="119957" y="168603"/>
                </a:cubicBezTo>
                <a:lnTo>
                  <a:pt x="87769" y="187909"/>
                </a:lnTo>
                <a:cubicBezTo>
                  <a:pt x="79995" y="192580"/>
                  <a:pt x="70069" y="186960"/>
                  <a:pt x="70069" y="177909"/>
                </a:cubicBezTo>
                <a:lnTo>
                  <a:pt x="70069" y="140138"/>
                </a:lnTo>
                <a:cubicBezTo>
                  <a:pt x="70069" y="127255"/>
                  <a:pt x="59595" y="116782"/>
                  <a:pt x="46713" y="116782"/>
                </a:cubicBezTo>
                <a:lnTo>
                  <a:pt x="46676" y="116782"/>
                </a:lnTo>
                <a:close/>
                <a:moveTo>
                  <a:pt x="145977" y="58391"/>
                </a:moveTo>
                <a:cubicBezTo>
                  <a:pt x="145977" y="48723"/>
                  <a:pt x="138128" y="40874"/>
                  <a:pt x="128460" y="40874"/>
                </a:cubicBezTo>
                <a:cubicBezTo>
                  <a:pt x="118792" y="40874"/>
                  <a:pt x="110943" y="48723"/>
                  <a:pt x="110943" y="58391"/>
                </a:cubicBezTo>
                <a:cubicBezTo>
                  <a:pt x="110943" y="68059"/>
                  <a:pt x="118792" y="75908"/>
                  <a:pt x="128460" y="75908"/>
                </a:cubicBezTo>
                <a:cubicBezTo>
                  <a:pt x="138128" y="75908"/>
                  <a:pt x="145977" y="68059"/>
                  <a:pt x="145977" y="58391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110" name="Text 51"/>
          <p:cNvSpPr/>
          <p:nvPr/>
        </p:nvSpPr>
        <p:spPr>
          <a:xfrm>
            <a:off x="934260" y="5530653"/>
            <a:ext cx="10884046" cy="504497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b="1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方正楷体_GBK" panose="03000509000000000000" charset="-122"/>
              </a:rPr>
              <a:t>核心建议：</a:t>
            </a:r>
            <a:r>
              <a:rPr lang="en-US" dirty="0">
                <a:solidFill>
                  <a:schemeClr val="tx1"/>
                </a:solidFill>
                <a:latin typeface="方正楷体_GBK" panose="03000509000000000000" charset="-122"/>
                <a:ea typeface="方正楷体_GBK" panose="03000509000000000000" charset="-122"/>
                <a:cs typeface="方正楷体_GBK" panose="03000509000000000000" charset="-122"/>
              </a:rPr>
              <a:t>AI几乎可以帮助完成所有事情，包括润色、翻译、绘图、编程等。善用AI工具，将使你事半功倍，取得更好的成绩。但记住，AI是助手，不是替代品。</a:t>
            </a:r>
            <a:endParaRPr lang="en-US" dirty="0">
              <a:solidFill>
                <a:schemeClr val="tx1"/>
              </a:solidFill>
              <a:latin typeface="方正楷体_GBK" panose="03000509000000000000" charset="-122"/>
              <a:ea typeface="方正楷体_GBK" panose="03000509000000000000" charset="-122"/>
              <a:cs typeface="方正楷体_GBK" panose="03000509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-142240" y="217805"/>
            <a:ext cx="12823190" cy="439420"/>
            <a:chOff x="2584397" y="217491"/>
            <a:chExt cx="10096500" cy="439541"/>
          </a:xfrm>
        </p:grpSpPr>
        <p:sp>
          <p:nvSpPr>
            <p:cNvPr id="4" name="圆角矩形 3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Shape 1"/>
          <p:cNvSpPr/>
          <p:nvPr/>
        </p:nvSpPr>
        <p:spPr>
          <a:xfrm>
            <a:off x="5638800" y="1600041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257711" y="0"/>
                </a:moveTo>
                <a:lnTo>
                  <a:pt x="657761" y="0"/>
                </a:lnTo>
                <a:cubicBezTo>
                  <a:pt x="705088" y="0"/>
                  <a:pt x="743664" y="38933"/>
                  <a:pt x="741878" y="86082"/>
                </a:cubicBezTo>
                <a:cubicBezTo>
                  <a:pt x="741521" y="95548"/>
                  <a:pt x="741164" y="105013"/>
                  <a:pt x="740628" y="114300"/>
                </a:cubicBezTo>
                <a:lnTo>
                  <a:pt x="829211" y="114300"/>
                </a:lnTo>
                <a:cubicBezTo>
                  <a:pt x="875824" y="114300"/>
                  <a:pt x="916900" y="152876"/>
                  <a:pt x="913328" y="203240"/>
                </a:cubicBezTo>
                <a:cubicBezTo>
                  <a:pt x="899934" y="388441"/>
                  <a:pt x="805279" y="490240"/>
                  <a:pt x="702588" y="543461"/>
                </a:cubicBezTo>
                <a:cubicBezTo>
                  <a:pt x="674370" y="558105"/>
                  <a:pt x="645616" y="569000"/>
                  <a:pt x="618292" y="577036"/>
                </a:cubicBezTo>
                <a:cubicBezTo>
                  <a:pt x="582216" y="628114"/>
                  <a:pt x="544711" y="655082"/>
                  <a:pt x="514886" y="669548"/>
                </a:cubicBezTo>
                <a:lnTo>
                  <a:pt x="514886" y="800100"/>
                </a:lnTo>
                <a:lnTo>
                  <a:pt x="629186" y="800100"/>
                </a:lnTo>
                <a:cubicBezTo>
                  <a:pt x="660797" y="800100"/>
                  <a:pt x="686336" y="825639"/>
                  <a:pt x="686336" y="857250"/>
                </a:cubicBezTo>
                <a:cubicBezTo>
                  <a:pt x="686336" y="888861"/>
                  <a:pt x="660797" y="914400"/>
                  <a:pt x="629186" y="914400"/>
                </a:cubicBezTo>
                <a:lnTo>
                  <a:pt x="286286" y="914400"/>
                </a:lnTo>
                <a:cubicBezTo>
                  <a:pt x="254675" y="914400"/>
                  <a:pt x="229136" y="888861"/>
                  <a:pt x="229136" y="857250"/>
                </a:cubicBezTo>
                <a:cubicBezTo>
                  <a:pt x="229136" y="825639"/>
                  <a:pt x="254675" y="800100"/>
                  <a:pt x="286286" y="800100"/>
                </a:cubicBezTo>
                <a:lnTo>
                  <a:pt x="400586" y="800100"/>
                </a:lnTo>
                <a:lnTo>
                  <a:pt x="400586" y="669548"/>
                </a:lnTo>
                <a:cubicBezTo>
                  <a:pt x="372011" y="655796"/>
                  <a:pt x="336471" y="630257"/>
                  <a:pt x="301823" y="583287"/>
                </a:cubicBezTo>
                <a:cubicBezTo>
                  <a:pt x="268962" y="574715"/>
                  <a:pt x="233243" y="561677"/>
                  <a:pt x="198418" y="542032"/>
                </a:cubicBezTo>
                <a:cubicBezTo>
                  <a:pt x="101798" y="487918"/>
                  <a:pt x="14645" y="385941"/>
                  <a:pt x="2143" y="202882"/>
                </a:cubicBezTo>
                <a:cubicBezTo>
                  <a:pt x="-1250" y="152698"/>
                  <a:pt x="39648" y="114121"/>
                  <a:pt x="86261" y="114121"/>
                </a:cubicBezTo>
                <a:lnTo>
                  <a:pt x="174843" y="114121"/>
                </a:lnTo>
                <a:cubicBezTo>
                  <a:pt x="174308" y="104835"/>
                  <a:pt x="173950" y="95548"/>
                  <a:pt x="173593" y="85904"/>
                </a:cubicBezTo>
                <a:cubicBezTo>
                  <a:pt x="171807" y="38576"/>
                  <a:pt x="210383" y="-179"/>
                  <a:pt x="257711" y="-179"/>
                </a:cubicBezTo>
                <a:close/>
                <a:moveTo>
                  <a:pt x="181273" y="200025"/>
                </a:moveTo>
                <a:lnTo>
                  <a:pt x="87690" y="200025"/>
                </a:lnTo>
                <a:cubicBezTo>
                  <a:pt x="98762" y="351294"/>
                  <a:pt x="168235" y="427018"/>
                  <a:pt x="239851" y="467201"/>
                </a:cubicBezTo>
                <a:cubicBezTo>
                  <a:pt x="214134" y="400586"/>
                  <a:pt x="192881" y="313611"/>
                  <a:pt x="181273" y="200025"/>
                </a:cubicBezTo>
                <a:close/>
                <a:moveTo>
                  <a:pt x="678656" y="458629"/>
                </a:moveTo>
                <a:cubicBezTo>
                  <a:pt x="750987" y="416123"/>
                  <a:pt x="816352" y="340578"/>
                  <a:pt x="827425" y="200025"/>
                </a:cubicBezTo>
                <a:lnTo>
                  <a:pt x="734020" y="200025"/>
                </a:lnTo>
                <a:cubicBezTo>
                  <a:pt x="722948" y="308789"/>
                  <a:pt x="702945" y="393263"/>
                  <a:pt x="678656" y="458629"/>
                </a:cubicBezTo>
                <a:close/>
              </a:path>
            </a:pathLst>
          </a:custGeom>
          <a:solidFill>
            <a:srgbClr val="E49B5D"/>
          </a:solidFill>
        </p:spPr>
      </p:sp>
      <p:sp>
        <p:nvSpPr>
          <p:cNvPr id="10" name="Text 2"/>
          <p:cNvSpPr/>
          <p:nvPr/>
        </p:nvSpPr>
        <p:spPr>
          <a:xfrm>
            <a:off x="4352925" y="2743041"/>
            <a:ext cx="34861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感谢聆听</a:t>
            </a:r>
            <a:endParaRPr lang="en-US" sz="5400" b="1" dirty="0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5486400" y="3657441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49B5D"/>
          </a:solidFill>
        </p:spPr>
      </p:sp>
      <p:sp>
        <p:nvSpPr>
          <p:cNvPr id="12" name="Text 4"/>
          <p:cNvSpPr/>
          <p:nvPr/>
        </p:nvSpPr>
        <p:spPr>
          <a:xfrm>
            <a:off x="4452938" y="4000341"/>
            <a:ext cx="3286125" cy="93345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祝大家在</a:t>
            </a:r>
            <a:r>
              <a:rPr lang="zh-CN" altLang="en-US" sz="22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本次美</a:t>
            </a:r>
            <a:r>
              <a:rPr lang="en-US" sz="22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赛中</a:t>
            </a:r>
            <a:endParaRPr lang="en-US" sz="1600" dirty="0">
              <a:solidFill>
                <a:schemeClr val="tx1"/>
              </a:solidFill>
            </a:endParaRPr>
          </a:p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取得优异成绩</a:t>
            </a:r>
            <a:r>
              <a:rPr lang="zh-CN" altLang="en-US" sz="2250" dirty="0">
                <a:solidFill>
                  <a:srgbClr val="FF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！</a:t>
            </a:r>
            <a:endParaRPr lang="zh-CN" altLang="en-US" sz="2250" dirty="0">
              <a:solidFill>
                <a:srgbClr val="FF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1547</Words>
  <Application>WPS 演示</Application>
  <PresentationFormat>宽屏</PresentationFormat>
  <Paragraphs>250</Paragraphs>
  <Slides>8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方正楷体_GBK</vt:lpstr>
      <vt:lpstr>MiSans</vt:lpstr>
      <vt:lpstr>MingLiU-ExtB</vt:lpstr>
      <vt:lpstr>MiSans</vt:lpstr>
      <vt:lpstr>Calibri</vt:lpstr>
      <vt:lpstr>Arial Unicode MS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基础架构处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0022</dc:title>
  <dc:creator>ZK</dc:creator>
  <cp:lastModifiedBy>Li is curious</cp:lastModifiedBy>
  <cp:revision>144</cp:revision>
  <dcterms:created xsi:type="dcterms:W3CDTF">2017-04-21T07:43:00Z</dcterms:created>
  <dcterms:modified xsi:type="dcterms:W3CDTF">2026-01-24T02:53:24Z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8B1A42A7D6FF4E559CB8A5E4D354B6DF_12</vt:lpwstr>
  </property>
</Properties>
</file>